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4" r:id="rId4"/>
  </p:sldMasterIdLst>
  <p:notesMasterIdLst>
    <p:notesMasterId r:id="rId20"/>
  </p:notesMasterIdLst>
  <p:handoutMasterIdLst>
    <p:handoutMasterId r:id="rId21"/>
  </p:handoutMasterIdLst>
  <p:sldIdLst>
    <p:sldId id="1497" r:id="rId5"/>
    <p:sldId id="1498" r:id="rId6"/>
    <p:sldId id="1515" r:id="rId7"/>
    <p:sldId id="1514" r:id="rId8"/>
    <p:sldId id="1499" r:id="rId9"/>
    <p:sldId id="1516" r:id="rId10"/>
    <p:sldId id="1513" r:id="rId11"/>
    <p:sldId id="1517" r:id="rId12"/>
    <p:sldId id="1522" r:id="rId13"/>
    <p:sldId id="1519" r:id="rId14"/>
    <p:sldId id="1520" r:id="rId15"/>
    <p:sldId id="1523" r:id="rId16"/>
    <p:sldId id="1502" r:id="rId17"/>
    <p:sldId id="1503" r:id="rId18"/>
    <p:sldId id="151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55F2D6-28A3-7D56-0FB0-D49AE2BBCB4C}" v="3" dt="2026-08-19T02:19:38.112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49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25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93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69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3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955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857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87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8984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373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8609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Aptos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351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524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8155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09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27" y="5096040"/>
            <a:ext cx="10963051" cy="761201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328" y="5972629"/>
            <a:ext cx="10963050" cy="519884"/>
          </a:xfrm>
        </p:spPr>
        <p:txBody>
          <a:bodyPr anchor="t"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615D95-4353-B9DA-619F-62F51763C54C}"/>
              </a:ext>
            </a:extLst>
          </p:cNvPr>
          <p:cNvCxnSpPr>
            <a:cxnSpLocks/>
          </p:cNvCxnSpPr>
          <p:nvPr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DE1B49B-C7C7-46C5-86D1-04B289EB7888}" type="datetime1">
              <a:rPr lang="en-US" smtClean="0"/>
              <a:t>8/19/2026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7" y="0"/>
            <a:ext cx="11593671" cy="4723939"/>
          </a:xfrm>
          <a:blipFill dpi="0" rotWithShape="1">
            <a:blip r:embed="rId2">
              <a:alphaModFix amt="60000"/>
            </a:blip>
            <a:srcRect/>
            <a:stretch>
              <a:fillRect l="-1459" r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68488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5A671A-CD1D-3726-5EBC-4251B0B1F630}"/>
              </a:ext>
            </a:extLst>
          </p:cNvPr>
          <p:cNvCxnSpPr/>
          <p:nvPr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41964"/>
            <a:ext cx="4564376" cy="429768"/>
          </a:xfrm>
        </p:spPr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70032-0FB4-49A9-8F94-A4A948FEFA19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2BC221-6328-07B8-5E00-E12DFAC6BF43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075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2214" y="1001716"/>
            <a:ext cx="4545750" cy="3358242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12214" y="4740957"/>
            <a:ext cx="4545749" cy="1482043"/>
          </a:xfrm>
        </p:spPr>
        <p:txBody>
          <a:bodyPr anchor="t"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62B492-23F8-09B4-BA81-5C910AC15279}"/>
              </a:ext>
            </a:extLst>
          </p:cNvPr>
          <p:cNvCxnSpPr>
            <a:cxnSpLocks/>
          </p:cNvCxnSpPr>
          <p:nvPr/>
        </p:nvCxnSpPr>
        <p:spPr>
          <a:xfrm>
            <a:off x="6754068" y="164150"/>
            <a:ext cx="54379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4" y="5260880"/>
            <a:ext cx="1494476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0806314-2923-4BCD-81C6-1762557E3AD1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7" y="0"/>
            <a:ext cx="5986622" cy="6858000"/>
          </a:xfrm>
          <a:blipFill dpi="0" rotWithShape="1">
            <a:blip r:embed="rId2">
              <a:alphaModFix amt="60000"/>
            </a:blip>
            <a:srcRect/>
            <a:stretch>
              <a:fillRect l="-2824" r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80DD37-AA75-5265-3DD3-EADFD5870C34}"/>
              </a:ext>
            </a:extLst>
          </p:cNvPr>
          <p:cNvCxnSpPr>
            <a:cxnSpLocks/>
          </p:cNvCxnSpPr>
          <p:nvPr userDrawn="1"/>
        </p:nvCxnSpPr>
        <p:spPr>
          <a:xfrm>
            <a:off x="675406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FEC9D1-6B65-BD86-B34E-71F8F5629EE4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5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32" y="1001715"/>
            <a:ext cx="4724078" cy="2980051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31" y="4362766"/>
            <a:ext cx="4724077" cy="1860234"/>
          </a:xfrm>
        </p:spPr>
        <p:txBody>
          <a:bodyPr anchor="t"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F22791-F1DC-82EE-574A-946C4F39A8F5}"/>
              </a:ext>
            </a:extLst>
          </p:cNvPr>
          <p:cNvCxnSpPr>
            <a:cxnSpLocks/>
          </p:cNvCxnSpPr>
          <p:nvPr userDrawn="1"/>
        </p:nvCxnSpPr>
        <p:spPr>
          <a:xfrm>
            <a:off x="429209" y="164150"/>
            <a:ext cx="5140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2067733" y="2231455"/>
            <a:ext cx="4564378" cy="429768"/>
          </a:xfrm>
        </p:spPr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-537354" y="5265452"/>
            <a:ext cx="1494475" cy="420624"/>
          </a:xfrm>
        </p:spPr>
        <p:txBody>
          <a:bodyPr/>
          <a:lstStyle/>
          <a:p>
            <a:fld id="{D1BD44EB-637E-42FE-BCB7-7CFC0B1C3376}" type="datetime1">
              <a:rPr lang="en-US" smtClean="0"/>
              <a:t>8/19/2026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-429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65246" y="0"/>
            <a:ext cx="6426753" cy="6858000"/>
          </a:xfrm>
          <a:blipFill dpi="0" rotWithShape="1">
            <a:blip r:embed="rId2">
              <a:alphaModFix amt="60000"/>
            </a:blip>
            <a:srcRect/>
            <a:stretch>
              <a:fillRect l="-263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C9DC64-28F1-DE35-BA93-42BE9EDD8B26}"/>
              </a:ext>
            </a:extLst>
          </p:cNvPr>
          <p:cNvCxnSpPr>
            <a:cxnSpLocks/>
          </p:cNvCxnSpPr>
          <p:nvPr userDrawn="1"/>
        </p:nvCxnSpPr>
        <p:spPr>
          <a:xfrm>
            <a:off x="5569624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A3CE87-786A-4910-E740-1852BBC75C53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15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001715"/>
            <a:ext cx="7538423" cy="3457299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1" y="4728526"/>
            <a:ext cx="6595444" cy="1494473"/>
          </a:xfrm>
        </p:spPr>
        <p:txBody>
          <a:bodyPr anchor="b"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D58296-262D-E3A1-3EDA-108D59ADDEB9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F719-9770-4838-A1BF-8640CFA44CC3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C82B15-2BAA-B79D-562D-AB6EE143DF74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530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001715"/>
            <a:ext cx="8095015" cy="3361051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4"/>
            <a:ext cx="7538424" cy="112776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7A912A-256D-661B-C181-034D06ED868C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92B4-CE1A-4C71-BEF0-93A2274B672B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C649EA-F1C7-472F-52D7-A93BB7EC19BC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311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404262"/>
            <a:ext cx="7924802" cy="2577504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9980" y="4353867"/>
            <a:ext cx="7152034" cy="112141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FC45B0-B1A3-3E44-43D7-C15E5073EEB5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5A5E0-7ACA-4081-A937-2CF1CEC074EB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EA1CDC-959E-33FA-9AF1-75DB91B6A96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19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478" y="1748475"/>
            <a:ext cx="10924476" cy="4730749"/>
          </a:xfrm>
        </p:spPr>
        <p:txBody>
          <a:bodyPr anchor="b">
            <a:normAutofit/>
          </a:bodyPr>
          <a:lstStyle>
            <a:lvl1pPr algn="l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27FB5B-F1F4-96F1-0152-318F0A4000BC}"/>
              </a:ext>
            </a:extLst>
          </p:cNvPr>
          <p:cNvCxnSpPr/>
          <p:nvPr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626840-FA11-4374-BE46-30DF1EAD92FE}" type="datetime1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593392-0733-4701-8F74-B58075202E2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924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3"/>
            <a:ext cx="5702371" cy="4855527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807522-A1BC-0AAD-E7B4-C948DF50EAC6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8506C6-7398-25A3-A121-87E3BF8366E4}"/>
              </a:ext>
            </a:extLst>
          </p:cNvPr>
          <p:cNvCxnSpPr>
            <a:cxnSpLocks/>
          </p:cNvCxnSpPr>
          <p:nvPr userDrawn="1"/>
        </p:nvCxnSpPr>
        <p:spPr>
          <a:xfrm>
            <a:off x="654122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4D0019-5D4E-18AB-5653-979E0D7032FB}"/>
              </a:ext>
            </a:extLst>
          </p:cNvPr>
          <p:cNvCxnSpPr>
            <a:cxnSpLocks/>
          </p:cNvCxnSpPr>
          <p:nvPr userDrawn="1"/>
        </p:nvCxnSpPr>
        <p:spPr>
          <a:xfrm>
            <a:off x="6541227" y="164150"/>
            <a:ext cx="56507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AAB3-9B5A-4636-BF0B-2B99D42F5638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24097" y="1001713"/>
            <a:ext cx="4333859" cy="4855527"/>
          </a:xfrm>
        </p:spPr>
        <p:txBody>
          <a:bodyPr anchor="ctr">
            <a:normAutofit/>
          </a:bodyPr>
          <a:lstStyle>
            <a:lvl1pPr marL="457200" indent="-457200" algn="l">
              <a:buFont typeface="+mj-lt"/>
              <a:buAutoNum type="arabicPeriod"/>
              <a:defRPr sz="1600"/>
            </a:lvl1pPr>
            <a:lvl2pPr marL="685800" indent="-457200" algn="l">
              <a:buFont typeface="+mj-lt"/>
              <a:buAutoNum type="arabicPeriod"/>
              <a:defRPr sz="1600"/>
            </a:lvl2pPr>
            <a:lvl3pPr marL="800100" indent="-342900" algn="l">
              <a:buFont typeface="+mj-lt"/>
              <a:buAutoNum type="arabicPeriod"/>
              <a:defRPr sz="1600"/>
            </a:lvl3pPr>
            <a:lvl4pPr marL="1028700" indent="-342900" algn="l">
              <a:buFont typeface="+mj-lt"/>
              <a:buAutoNum type="arabicPeriod"/>
              <a:defRPr sz="1600"/>
            </a:lvl4pPr>
            <a:lvl5pPr marL="1257300" indent="-342900" algn="l">
              <a:buFont typeface="+mj-lt"/>
              <a:buAutoNum type="arabicPeriod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4472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419" y="1001716"/>
            <a:ext cx="4796545" cy="1503374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92E087-D311-16FB-DFD8-7DFD79458D0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4150"/>
            <a:ext cx="609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3" y="5260880"/>
            <a:ext cx="1494474" cy="429768"/>
          </a:xfrm>
        </p:spPr>
        <p:txBody>
          <a:bodyPr/>
          <a:lstStyle/>
          <a:p>
            <a:fld id="{569377BB-3A7F-48AE-8949-DF715FC88965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8329" y="0"/>
            <a:ext cx="533103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76581" y="2886088"/>
            <a:ext cx="4781383" cy="3336912"/>
          </a:xfrm>
        </p:spPr>
        <p:txBody>
          <a:bodyPr anchor="b">
            <a:normAutofit/>
          </a:bodyPr>
          <a:lstStyle>
            <a:lvl1pPr marL="0" indent="0">
              <a:buFont typeface="+mj-lt"/>
              <a:buNone/>
              <a:defRPr sz="1600"/>
            </a:lvl1pPr>
            <a:lvl2pPr marL="228600" indent="0">
              <a:buFont typeface="+mj-lt"/>
              <a:buNone/>
              <a:defRPr sz="16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1EF905-FBC0-6AEE-DA7E-A6361F7EF6BB}"/>
              </a:ext>
            </a:extLst>
          </p:cNvPr>
          <p:cNvCxnSpPr>
            <a:cxnSpLocks/>
          </p:cNvCxnSpPr>
          <p:nvPr userDrawn="1"/>
        </p:nvCxnSpPr>
        <p:spPr>
          <a:xfrm>
            <a:off x="609904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C5A10F-4276-544F-CA8D-14E3EDCA493B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567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2496190"/>
            <a:ext cx="4714881" cy="223233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30124F2-891B-DC7A-86AD-C038AE8A6493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5C65A-63EB-4D03-A77A-34D9179F227E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96190"/>
            <a:ext cx="4325112" cy="223233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1D8F17-EF76-0E40-74BF-199C61642602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735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2133757"/>
            <a:ext cx="4328497" cy="372883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B3FC25-52BF-D39B-F6D8-ACD115F19721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B156B-F59C-4C90-B2BF-52C692BF43D0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2129475"/>
            <a:ext cx="5266077" cy="372776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054AC9-7FE7-AA63-76C1-0BB3E059FCEA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022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381759"/>
            <a:ext cx="4358311" cy="484124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35D4DD-0247-2268-9444-EBEAF09126E2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3B20-6D77-4E10-9C9F-10A32026F483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78726" y="1381759"/>
            <a:ext cx="5622648" cy="484124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2B1FAB-0434-52D4-45F7-F1C56FA427F8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729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5"/>
            <a:ext cx="4328497" cy="4855526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BBE18-C792-4A63-8F5A-CED2F5653C9B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83174" y="1001714"/>
            <a:ext cx="5118206" cy="4855527"/>
          </a:xfr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F4B9D1-5247-53CB-C1FC-9E3459BF16C4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3F8E40-0F32-5592-0885-55CEBFBDF0AB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138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900433"/>
            <a:ext cx="3771900" cy="5221285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B4E55-CD3E-4D87-9041-7A8452BD5273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900432"/>
            <a:ext cx="6209054" cy="5221285"/>
          </a:xfr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E7E8DAF-8174-2859-E029-6F85464CAC9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228395-2719-9A44-CE27-6CFD8BD848E8}"/>
              </a:ext>
            </a:extLst>
          </p:cNvPr>
          <p:cNvCxnSpPr>
            <a:cxnSpLocks/>
          </p:cNvCxnSpPr>
          <p:nvPr userDrawn="1"/>
        </p:nvCxnSpPr>
        <p:spPr>
          <a:xfrm>
            <a:off x="4883705" y="164150"/>
            <a:ext cx="73082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83E6F6-12DD-3AC0-8C59-D6E9DEDA1456}"/>
              </a:ext>
            </a:extLst>
          </p:cNvPr>
          <p:cNvCxnSpPr>
            <a:cxnSpLocks/>
          </p:cNvCxnSpPr>
          <p:nvPr userDrawn="1"/>
        </p:nvCxnSpPr>
        <p:spPr>
          <a:xfrm>
            <a:off x="488370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441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3785" y="1001715"/>
            <a:ext cx="6444179" cy="1122374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4" y="5260879"/>
            <a:ext cx="1494475" cy="429768"/>
          </a:xfrm>
        </p:spPr>
        <p:txBody>
          <a:bodyPr/>
          <a:lstStyle/>
          <a:p>
            <a:fld id="{B44ACCC6-A2BA-4B7B-99B4-E62BB5424C67}" type="datetime1">
              <a:rPr lang="en-US" smtClean="0"/>
              <a:t>8/19/2026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3207AA-DF92-4449-9316-61475F014448}"/>
              </a:ext>
            </a:extLst>
          </p:cNvPr>
          <p:cNvCxnSpPr>
            <a:cxnSpLocks/>
          </p:cNvCxnSpPr>
          <p:nvPr userDrawn="1"/>
        </p:nvCxnSpPr>
        <p:spPr>
          <a:xfrm>
            <a:off x="4918159" y="164150"/>
            <a:ext cx="72738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8" y="1"/>
            <a:ext cx="4124206" cy="6858000"/>
          </a:xfrm>
          <a:blipFill dpi="0" rotWithShape="1">
            <a:blip r:embed="rId2">
              <a:alphaModFix amt="60000"/>
            </a:blip>
            <a:srcRect/>
            <a:stretch>
              <a:fillRect l="-2278" r="-669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13785" y="2496190"/>
            <a:ext cx="6444179" cy="3726810"/>
          </a:xfrm>
        </p:spPr>
        <p:txBody>
          <a:bodyPr>
            <a:normAutofit/>
          </a:bodyPr>
          <a:lstStyle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4805F9-D010-6E54-928C-1EBB88CBA9D3}"/>
              </a:ext>
            </a:extLst>
          </p:cNvPr>
          <p:cNvCxnSpPr>
            <a:cxnSpLocks/>
          </p:cNvCxnSpPr>
          <p:nvPr userDrawn="1"/>
        </p:nvCxnSpPr>
        <p:spPr>
          <a:xfrm>
            <a:off x="491815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A487952-A86B-7C85-B4C5-3B9E9DED85A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2905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5647085" cy="1122375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2" y="2231454"/>
            <a:ext cx="4564376" cy="429768"/>
          </a:xfrm>
        </p:spPr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2" y="5260879"/>
            <a:ext cx="1494475" cy="429768"/>
          </a:xfrm>
        </p:spPr>
        <p:txBody>
          <a:bodyPr/>
          <a:lstStyle/>
          <a:p>
            <a:fld id="{341E3BD6-1BE7-4293-98B0-C8B456DEC98E}" type="datetime1">
              <a:rPr lang="en-US" smtClean="0"/>
              <a:t>8/19/2026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67BDF5B-E352-4558-1EFA-37F504BFE32E}"/>
              </a:ext>
            </a:extLst>
          </p:cNvPr>
          <p:cNvCxnSpPr>
            <a:cxnSpLocks/>
          </p:cNvCxnSpPr>
          <p:nvPr userDrawn="1"/>
        </p:nvCxnSpPr>
        <p:spPr>
          <a:xfrm>
            <a:off x="429208" y="164150"/>
            <a:ext cx="66311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496190"/>
            <a:ext cx="5647085" cy="372681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24097" y="0"/>
            <a:ext cx="4967903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2BFE52-C7C3-A7E3-F6D9-EDECDF40EF56}"/>
              </a:ext>
            </a:extLst>
          </p:cNvPr>
          <p:cNvCxnSpPr>
            <a:cxnSpLocks/>
          </p:cNvCxnSpPr>
          <p:nvPr userDrawn="1"/>
        </p:nvCxnSpPr>
        <p:spPr>
          <a:xfrm>
            <a:off x="7060324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C0473F-E6DB-D181-43D0-0D5C945184BB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4341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7306" y="1001715"/>
            <a:ext cx="6740655" cy="1087887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4" y="5260879"/>
            <a:ext cx="1494474" cy="429768"/>
          </a:xfrm>
        </p:spPr>
        <p:txBody>
          <a:bodyPr/>
          <a:lstStyle/>
          <a:p>
            <a:fld id="{12B94328-6471-48ED-A3E9-D3E8C4DB1679}" type="datetime1">
              <a:rPr lang="en-US" smtClean="0"/>
              <a:t>8/19/2026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A26726-2193-5028-87FF-55119A73A643}"/>
              </a:ext>
            </a:extLst>
          </p:cNvPr>
          <p:cNvCxnSpPr>
            <a:cxnSpLocks/>
          </p:cNvCxnSpPr>
          <p:nvPr userDrawn="1"/>
        </p:nvCxnSpPr>
        <p:spPr>
          <a:xfrm>
            <a:off x="4634939" y="164150"/>
            <a:ext cx="755706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8" y="0"/>
            <a:ext cx="3854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17311" y="2496190"/>
            <a:ext cx="6740654" cy="372681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AA0E72-1F2C-EAE4-77B7-9FF7C88D21DD}"/>
              </a:ext>
            </a:extLst>
          </p:cNvPr>
          <p:cNvCxnSpPr>
            <a:cxnSpLocks/>
          </p:cNvCxnSpPr>
          <p:nvPr userDrawn="1"/>
        </p:nvCxnSpPr>
        <p:spPr>
          <a:xfrm>
            <a:off x="463493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EA80D3F-C3CE-0859-0D1F-594C0503DBAA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8514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1" y="1028130"/>
            <a:ext cx="6595448" cy="1113475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649CF-C20C-7376-D09A-88A289B7A347}"/>
              </a:ext>
            </a:extLst>
          </p:cNvPr>
          <p:cNvCxnSpPr>
            <a:cxnSpLocks/>
          </p:cNvCxnSpPr>
          <p:nvPr userDrawn="1"/>
        </p:nvCxnSpPr>
        <p:spPr>
          <a:xfrm>
            <a:off x="429208" y="164150"/>
            <a:ext cx="7479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2" y="2231454"/>
            <a:ext cx="4564376" cy="429768"/>
          </a:xfrm>
        </p:spPr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2" y="5260879"/>
            <a:ext cx="1494475" cy="429768"/>
          </a:xfrm>
        </p:spPr>
        <p:txBody>
          <a:bodyPr/>
          <a:lstStyle/>
          <a:p>
            <a:fld id="{1368BACD-07D9-459F-AA1C-5268AE32178F}" type="datetime1">
              <a:rPr lang="en-US" smtClean="0"/>
              <a:t>8/19/2026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" y="649224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1" y="2496190"/>
            <a:ext cx="6595448" cy="372680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13312" y="0"/>
            <a:ext cx="4283768" cy="6858000"/>
          </a:xfrm>
          <a:blipFill dpi="0" rotWithShape="1">
            <a:blip r:embed="rId2">
              <a:alphaModFix amt="60000"/>
            </a:blip>
            <a:srcRect/>
            <a:stretch>
              <a:fillRect l="1" t="-1" r="1" b="-447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B030F47-B045-036A-B67B-EF84DE9E2A8D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2218E5-4B7E-010A-02DF-6951A1023B10}"/>
              </a:ext>
            </a:extLst>
          </p:cNvPr>
          <p:cNvCxnSpPr>
            <a:cxnSpLocks/>
          </p:cNvCxnSpPr>
          <p:nvPr userDrawn="1"/>
        </p:nvCxnSpPr>
        <p:spPr>
          <a:xfrm>
            <a:off x="7908800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70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259" y="1001715"/>
            <a:ext cx="4717705" cy="1109672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1666" y="5260191"/>
            <a:ext cx="1493097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92A769-D4A9-4BBF-AD73-A3AD41FBB7C3}" type="datetime1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4E0F01-74F8-4E05-0BF9-107555BA139C}"/>
              </a:ext>
            </a:extLst>
          </p:cNvPr>
          <p:cNvCxnSpPr>
            <a:cxnSpLocks/>
          </p:cNvCxnSpPr>
          <p:nvPr userDrawn="1"/>
        </p:nvCxnSpPr>
        <p:spPr>
          <a:xfrm>
            <a:off x="6624761" y="164150"/>
            <a:ext cx="55672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8" y="0"/>
            <a:ext cx="584350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07693" y="2492387"/>
            <a:ext cx="4750271" cy="373061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85E70CC-C7D7-B9CE-493E-0579781D2D31}"/>
              </a:ext>
            </a:extLst>
          </p:cNvPr>
          <p:cNvCxnSpPr>
            <a:cxnSpLocks/>
          </p:cNvCxnSpPr>
          <p:nvPr userDrawn="1"/>
        </p:nvCxnSpPr>
        <p:spPr>
          <a:xfrm>
            <a:off x="662476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E830231-922B-910E-CA0F-2B635AE5E80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8659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2" y="1001715"/>
            <a:ext cx="4714880" cy="1125536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71905" y="2231455"/>
            <a:ext cx="4564377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6954" y="5260879"/>
            <a:ext cx="1494474" cy="429768"/>
          </a:xfrm>
        </p:spPr>
        <p:txBody>
          <a:bodyPr/>
          <a:lstStyle/>
          <a:p>
            <a:fld id="{2DF6CB4C-CEEE-488F-A556-6D160C723A2D}" type="datetime1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4601" y="6492240"/>
            <a:ext cx="42920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12D87E-65D6-AA23-C2F1-6ACD679648B1}"/>
              </a:ext>
            </a:extLst>
          </p:cNvPr>
          <p:cNvCxnSpPr>
            <a:cxnSpLocks/>
          </p:cNvCxnSpPr>
          <p:nvPr userDrawn="1"/>
        </p:nvCxnSpPr>
        <p:spPr>
          <a:xfrm>
            <a:off x="431800" y="164150"/>
            <a:ext cx="5287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1" y="2493965"/>
            <a:ext cx="4714880" cy="372903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8095" y="-1"/>
            <a:ext cx="6303905" cy="688899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C1A446-6BAE-22CC-E376-C7034DBFDE71}"/>
              </a:ext>
            </a:extLst>
          </p:cNvPr>
          <p:cNvCxnSpPr>
            <a:cxnSpLocks/>
          </p:cNvCxnSpPr>
          <p:nvPr userDrawn="1"/>
        </p:nvCxnSpPr>
        <p:spPr>
          <a:xfrm>
            <a:off x="5718976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047466-B04C-40AF-946A-45572220C733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8555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3504" y="1001715"/>
            <a:ext cx="4444457" cy="1122374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4" y="5260879"/>
            <a:ext cx="1494473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652FFD6-A518-49CA-8126-283C2A8EFE6F}" type="datetime1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B378FF-8198-DC37-BA5B-473DEDD75988}"/>
              </a:ext>
            </a:extLst>
          </p:cNvPr>
          <p:cNvCxnSpPr>
            <a:cxnSpLocks/>
          </p:cNvCxnSpPr>
          <p:nvPr userDrawn="1"/>
        </p:nvCxnSpPr>
        <p:spPr>
          <a:xfrm>
            <a:off x="6934701" y="164150"/>
            <a:ext cx="52572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7" y="0"/>
            <a:ext cx="6154001" cy="6858000"/>
          </a:xfrm>
          <a:blipFill dpi="0" rotWithShape="1">
            <a:blip r:embed="rId2">
              <a:alphaModFix amt="60000"/>
            </a:blip>
            <a:srcRect/>
            <a:stretch>
              <a:fillRect l="-2748" r="-2748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3505" y="2496190"/>
            <a:ext cx="4444460" cy="372680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4E56D6-14F7-4AF8-BCF3-2B60F1174250}"/>
              </a:ext>
            </a:extLst>
          </p:cNvPr>
          <p:cNvCxnSpPr>
            <a:cxnSpLocks/>
          </p:cNvCxnSpPr>
          <p:nvPr userDrawn="1"/>
        </p:nvCxnSpPr>
        <p:spPr>
          <a:xfrm>
            <a:off x="693470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D24FBA-09F1-E77D-0C3E-A914CBD5F4F2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8511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520" y="1001715"/>
            <a:ext cx="4687174" cy="1127751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4711" y="2231455"/>
            <a:ext cx="4564377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29760" y="5260879"/>
            <a:ext cx="1494474" cy="429768"/>
          </a:xfrm>
        </p:spPr>
        <p:txBody>
          <a:bodyPr/>
          <a:lstStyle/>
          <a:p>
            <a:fld id="{BDA16E6D-ABB3-4B84-99F2-E42A2B9DF2C2}" type="datetime1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93" y="649287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838F21-75ED-E44B-42EB-FC7FE5E930B5}"/>
              </a:ext>
            </a:extLst>
          </p:cNvPr>
          <p:cNvCxnSpPr>
            <a:cxnSpLocks/>
          </p:cNvCxnSpPr>
          <p:nvPr userDrawn="1"/>
        </p:nvCxnSpPr>
        <p:spPr>
          <a:xfrm>
            <a:off x="431800" y="164150"/>
            <a:ext cx="54726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496181"/>
            <a:ext cx="4714880" cy="372681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5999" cy="6858000"/>
          </a:xfrm>
          <a:blipFill dpi="0" rotWithShape="1">
            <a:blip r:embed="rId2">
              <a:alphaModFix amt="60000"/>
            </a:blip>
            <a:srcRect/>
            <a:stretch>
              <a:fillRect l="-2925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F9AEDF6-9814-FD08-73EB-63D58BF776EA}"/>
              </a:ext>
            </a:extLst>
          </p:cNvPr>
          <p:cNvCxnSpPr>
            <a:cxnSpLocks/>
          </p:cNvCxnSpPr>
          <p:nvPr userDrawn="1"/>
        </p:nvCxnSpPr>
        <p:spPr>
          <a:xfrm>
            <a:off x="590446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8CA044-325A-12D3-37BC-BDCEBBC342CC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6212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9767" y="1001715"/>
            <a:ext cx="3778198" cy="1108746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1" y="2231454"/>
            <a:ext cx="4564376" cy="429768"/>
          </a:xfrm>
        </p:spPr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2" y="5260879"/>
            <a:ext cx="1494475" cy="429768"/>
          </a:xfrm>
        </p:spPr>
        <p:txBody>
          <a:bodyPr/>
          <a:lstStyle/>
          <a:p>
            <a:fld id="{D67C4704-4F96-4DFD-9156-648F64A4FFD5}" type="datetime1">
              <a:rPr lang="en-US" smtClean="0"/>
              <a:t>8/19/2026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" y="6492513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9841FB-35AF-1919-0953-5642770662AC}"/>
              </a:ext>
            </a:extLst>
          </p:cNvPr>
          <p:cNvCxnSpPr>
            <a:cxnSpLocks/>
          </p:cNvCxnSpPr>
          <p:nvPr userDrawn="1"/>
        </p:nvCxnSpPr>
        <p:spPr>
          <a:xfrm>
            <a:off x="7597395" y="164150"/>
            <a:ext cx="45946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9" y="0"/>
            <a:ext cx="6816696" cy="6858000"/>
          </a:xfrm>
          <a:blipFill dpi="0" rotWithShape="1">
            <a:blip r:embed="rId2">
              <a:alphaModFix amt="60000"/>
            </a:blip>
            <a:srcRect/>
            <a:stretch>
              <a:fillRect l="-2482" r="-248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79767" y="2515205"/>
            <a:ext cx="3778198" cy="375938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8AE5DC-7AFC-CD99-8A67-46A580A7DEFE}"/>
              </a:ext>
            </a:extLst>
          </p:cNvPr>
          <p:cNvCxnSpPr>
            <a:cxnSpLocks/>
          </p:cNvCxnSpPr>
          <p:nvPr userDrawn="1"/>
        </p:nvCxnSpPr>
        <p:spPr>
          <a:xfrm>
            <a:off x="759739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A6662-88AA-A191-B6D5-4B6DF99C8B16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8946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449" y="1001715"/>
            <a:ext cx="3401568" cy="112776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2638" y="2236683"/>
            <a:ext cx="4553921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4" y="5260880"/>
            <a:ext cx="1494476" cy="429768"/>
          </a:xfrm>
        </p:spPr>
        <p:txBody>
          <a:bodyPr/>
          <a:lstStyle/>
          <a:p>
            <a:fld id="{33B50C95-85D9-49F9-99D8-E6845F008D35}" type="datetime1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4DF952-8FA0-48F5-F7EF-53D541404A33}"/>
              </a:ext>
            </a:extLst>
          </p:cNvPr>
          <p:cNvCxnSpPr>
            <a:cxnSpLocks/>
          </p:cNvCxnSpPr>
          <p:nvPr userDrawn="1"/>
        </p:nvCxnSpPr>
        <p:spPr>
          <a:xfrm>
            <a:off x="431800" y="164150"/>
            <a:ext cx="3800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1448" y="2491461"/>
            <a:ext cx="3401567" cy="3731539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4499" y="0"/>
            <a:ext cx="7962582" cy="6858000"/>
          </a:xfrm>
          <a:blipFill dpi="0" rotWithShape="1">
            <a:blip r:embed="rId2">
              <a:alphaModFix amt="60000"/>
            </a:blip>
            <a:srcRect/>
            <a:stretch>
              <a:fillRect l="-5169" r="2"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6E75C3-3D50-62F4-97A1-08D85ABC212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D9DCC5-4A76-A29C-BDAD-62E571E6267E}"/>
              </a:ext>
            </a:extLst>
          </p:cNvPr>
          <p:cNvCxnSpPr>
            <a:cxnSpLocks/>
          </p:cNvCxnSpPr>
          <p:nvPr userDrawn="1"/>
        </p:nvCxnSpPr>
        <p:spPr>
          <a:xfrm>
            <a:off x="423200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0691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7541" y="1001716"/>
            <a:ext cx="3565637" cy="1494474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2" y="2231455"/>
            <a:ext cx="4564377" cy="429768"/>
          </a:xfrm>
        </p:spPr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1" y="5260879"/>
            <a:ext cx="1494474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7B02D44-18E2-46EB-BF95-C6E9788E5887}" type="datetime1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" y="6492513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11B3B1-9941-4785-B418-08EF9E3BB704}"/>
              </a:ext>
            </a:extLst>
          </p:cNvPr>
          <p:cNvCxnSpPr>
            <a:cxnSpLocks/>
          </p:cNvCxnSpPr>
          <p:nvPr userDrawn="1"/>
        </p:nvCxnSpPr>
        <p:spPr>
          <a:xfrm>
            <a:off x="7794617" y="164150"/>
            <a:ext cx="43973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7" y="0"/>
            <a:ext cx="7013917" cy="6858000"/>
          </a:xfrm>
          <a:blipFill dpi="0" rotWithShape="1">
            <a:blip r:embed="rId2">
              <a:alphaModFix amt="60000"/>
            </a:blip>
            <a:srcRect/>
            <a:stretch>
              <a:fillRect l="-2411" r="-241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6991" y="2877189"/>
            <a:ext cx="3576275" cy="334581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FE4EE6-FDB8-6541-5FC6-4FC24B421584}"/>
              </a:ext>
            </a:extLst>
          </p:cNvPr>
          <p:cNvCxnSpPr>
            <a:cxnSpLocks/>
          </p:cNvCxnSpPr>
          <p:nvPr userDrawn="1"/>
        </p:nvCxnSpPr>
        <p:spPr>
          <a:xfrm>
            <a:off x="779461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A42A28-5C2F-9093-B5D9-C2651F290DF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2437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328" y="5109524"/>
            <a:ext cx="4364200" cy="1113476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0CC-5553-421C-8D81-3F82FF869EDA}" type="datetime1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7" y="0"/>
            <a:ext cx="11593671" cy="4728524"/>
          </a:xfrm>
          <a:blipFill dpi="0" rotWithShape="1">
            <a:blip r:embed="rId2">
              <a:alphaModFix amt="60000"/>
            </a:blip>
            <a:srcRect/>
            <a:stretch>
              <a:fillRect l="-1459" r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109523"/>
            <a:ext cx="6208724" cy="1113477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600"/>
            </a:lvl4pPr>
            <a:lvl5pPr marL="914400" indent="0"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7E7B67-A585-C4C0-BD50-861ED489B135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5767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328" y="4362766"/>
            <a:ext cx="3421224" cy="1860234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7576-EC94-4DB5-9187-19A5D0382B7E}" type="datetime1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7" y="0"/>
            <a:ext cx="11593671" cy="3981766"/>
          </a:xfrm>
          <a:blipFill dpi="0" rotWithShape="1">
            <a:blip r:embed="rId2">
              <a:alphaModFix amt="60000"/>
            </a:blip>
            <a:srcRect/>
            <a:stretch>
              <a:fillRect l="-1459" r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4353867"/>
            <a:ext cx="7152028" cy="18691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600"/>
            </a:lvl3pPr>
            <a:lvl4pPr marL="857250" indent="-171450">
              <a:buFont typeface="Arial" panose="020B0604020202020204" pitchFamily="34" charset="0"/>
              <a:buChar char="•"/>
              <a:defRPr sz="1600"/>
            </a:lvl4pPr>
            <a:lvl5pPr marL="10858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F2A9F8-8F3B-3616-48B8-F8DA72A71344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9701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56BFCD-3259-DDE7-5625-EE56190B8F62}"/>
              </a:ext>
            </a:extLst>
          </p:cNvPr>
          <p:cNvCxnSpPr>
            <a:cxnSpLocks/>
          </p:cNvCxnSpPr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764" y="1001714"/>
            <a:ext cx="3390788" cy="1875473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73146" y="2231455"/>
            <a:ext cx="4564377" cy="429768"/>
          </a:xfrm>
        </p:spPr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8191" y="5260876"/>
            <a:ext cx="1494468" cy="429768"/>
          </a:xfrm>
        </p:spPr>
        <p:txBody>
          <a:bodyPr/>
          <a:lstStyle/>
          <a:p>
            <a:fld id="{1E853955-1D07-4B51-BC71-D8BE10C22200}" type="datetime1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5842" y="649287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1001714"/>
            <a:ext cx="7152028" cy="1875475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600"/>
            </a:lvl3pPr>
            <a:lvl4pPr marL="857250" indent="-171450">
              <a:buFont typeface="Arial" panose="020B0604020202020204" pitchFamily="34" charset="0"/>
              <a:buChar char="•"/>
              <a:defRPr sz="1600"/>
            </a:lvl4pPr>
            <a:lvl5pPr marL="10858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8" y="3258188"/>
            <a:ext cx="11593670" cy="3599811"/>
          </a:xfrm>
          <a:blipFill dpi="0" rotWithShape="1">
            <a:blip r:embed="rId2">
              <a:alphaModFix amt="60000"/>
            </a:blip>
            <a:srcRect/>
            <a:stretch>
              <a:fillRect l="-121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378E9B-0BD2-F103-F591-68E71F4480ED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8740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F82DAF-8C88-BCF8-3DCD-BA0110CC6BB2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5"/>
            <a:ext cx="10923933" cy="746752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E46-11CA-4696-94A6-42FA6258F836}" type="datetime1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30" y="2129475"/>
            <a:ext cx="5652468" cy="409352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29475"/>
            <a:ext cx="4714869" cy="409352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71A0C8E-B9F0-C8A0-7A87-A97B78C1C482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8079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29A9DDD-8FD5-2897-8DC9-1CEC88541C50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5"/>
            <a:ext cx="4714876" cy="1122374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799AB-4423-4AFC-BA85-5F70033F1076}" type="datetime1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30" y="2496190"/>
            <a:ext cx="4672584" cy="372681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02" y="1001715"/>
            <a:ext cx="5652463" cy="522128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BC9BBD-1994-9D19-11C8-FD27039C6338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7585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681CC6-0816-FBB5-F117-CE232D15B0DE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4328495" cy="1127759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E56CF-865A-4DF6-93CB-5342FE600906}" type="datetime1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30" y="2129475"/>
            <a:ext cx="4328495" cy="40935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1001713"/>
            <a:ext cx="6209054" cy="5221287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64B8C12-E10A-C714-D6A0-BA32E2C72710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4353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1" y="1001715"/>
            <a:ext cx="5955028" cy="5477511"/>
          </a:xfrm>
        </p:spPr>
        <p:txBody>
          <a:bodyPr anchor="b">
            <a:normAutofit/>
          </a:bodyPr>
          <a:lstStyle>
            <a:lvl1pPr>
              <a:defRPr sz="7200" b="0" i="0">
                <a:latin typeface="+mj-lt"/>
                <a:ea typeface="Dotum" panose="020B0600000101010101" pitchFamily="34" charset="-127"/>
                <a:cs typeface="Noto Sans Kannada Thin" panose="020B020204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2" y="2231454"/>
            <a:ext cx="4564376" cy="429768"/>
          </a:xfrm>
        </p:spPr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2" y="5260879"/>
            <a:ext cx="1494475" cy="429768"/>
          </a:xfrm>
        </p:spPr>
        <p:txBody>
          <a:bodyPr/>
          <a:lstStyle/>
          <a:p>
            <a:fld id="{341E3BD6-1BE7-4293-98B0-C8B456DEC98E}" type="datetime1">
              <a:rPr lang="en-US" smtClean="0"/>
              <a:t>8/19/2026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5403" y="-1"/>
            <a:ext cx="5131677" cy="6222999"/>
          </a:xfrm>
          <a:blipFill dpi="0" rotWithShape="1">
            <a:blip r:embed="rId2">
              <a:alphaModFix amt="60000"/>
            </a:blip>
            <a:srcRect/>
            <a:stretch>
              <a:fillRect l="-686" t="2" b="-412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FA8915-517E-32B2-6836-7A69DEF7C849}"/>
              </a:ext>
            </a:extLst>
          </p:cNvPr>
          <p:cNvCxnSpPr>
            <a:cxnSpLocks/>
          </p:cNvCxnSpPr>
          <p:nvPr userDrawn="1"/>
        </p:nvCxnSpPr>
        <p:spPr>
          <a:xfrm>
            <a:off x="7060324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76B2467-9468-3DE8-CA1C-7B68F7ED9A67}"/>
              </a:ext>
            </a:extLst>
          </p:cNvPr>
          <p:cNvCxnSpPr>
            <a:cxnSpLocks/>
          </p:cNvCxnSpPr>
          <p:nvPr userDrawn="1"/>
        </p:nvCxnSpPr>
        <p:spPr>
          <a:xfrm>
            <a:off x="0" y="164150"/>
            <a:ext cx="70603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77414" y="6375748"/>
            <a:ext cx="4847572" cy="363255"/>
          </a:xfrm>
        </p:spPr>
        <p:txBody>
          <a:bodyPr anchor="ctr">
            <a:norm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>
              <a:defRPr sz="1600" b="0" i="0">
                <a:latin typeface="Univers Light" panose="020B0403020202020204" pitchFamily="34" charset="0"/>
              </a:defRPr>
            </a:lvl2pPr>
            <a:lvl3pPr>
              <a:defRPr sz="1600" b="0" i="0">
                <a:latin typeface="Univers Light" panose="020B0403020202020204" pitchFamily="34" charset="0"/>
              </a:defRPr>
            </a:lvl3pPr>
            <a:lvl4pPr>
              <a:defRPr sz="1600" b="0" i="0">
                <a:latin typeface="Univers Light" panose="020B0403020202020204" pitchFamily="34" charset="0"/>
              </a:defRPr>
            </a:lvl4pPr>
            <a:lvl5pPr>
              <a:defRPr sz="1600" b="0" i="0">
                <a:latin typeface="Univers Light" panose="020B04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22991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113C676-72E3-B810-A6B9-DCE36B8778AC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8507528C-7021-C7A4-B156-08D83A3A2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70" y="5109525"/>
            <a:ext cx="10367905" cy="120719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29A1B-A295-4715-B77A-F33006A42EEB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88E26B-9247-68F3-E9B8-157E22E9714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786730A0-A69C-6FA3-06BC-632301E15F2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340489"/>
            <a:ext cx="10367349" cy="3388035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3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423298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F240C4-9480-994E-0BD5-BF7BE95F9F7B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70" y="5109525"/>
            <a:ext cx="10367905" cy="120719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BD6C5-FCE0-436F-BDB9-607AA1896A18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340489"/>
            <a:ext cx="10367349" cy="3388035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3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547AA0-CA68-609A-06D4-5F771838B5D3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7481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8C624E-4F6C-E890-10DF-FE279DA2597D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20D33D3A-063E-24F3-6815-CC483F3BF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70" y="5109525"/>
            <a:ext cx="10367905" cy="120719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5A51-DB18-40F8-9807-F5A86B7E570D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D9BA66-49B9-422C-E28F-BA9E9DB6469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20ABC85-9587-24D5-E6BE-4DBE5CA5697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340489"/>
            <a:ext cx="10367349" cy="3388035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3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6671568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D627006-2F17-8195-85F1-6A04C935CD0A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CB96-76D1-4464-9253-520F75095DE4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001715"/>
            <a:ext cx="9424374" cy="52212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000" b="1" cap="all" baseline="0"/>
            </a:lvl1pPr>
            <a:lvl2pPr marL="228600" indent="0">
              <a:lnSpc>
                <a:spcPct val="100000"/>
              </a:lnSpc>
              <a:buNone/>
              <a:defRPr sz="4000" b="1" cap="all" baseline="0"/>
            </a:lvl2pPr>
            <a:lvl3pPr marL="457200" indent="0">
              <a:lnSpc>
                <a:spcPct val="100000"/>
              </a:lnSpc>
              <a:buNone/>
              <a:defRPr sz="4000" b="1" cap="all" baseline="0"/>
            </a:lvl3pPr>
            <a:lvl4pPr marL="685800" indent="0">
              <a:lnSpc>
                <a:spcPct val="100000"/>
              </a:lnSpc>
              <a:buNone/>
              <a:defRPr sz="4000" b="1" cap="all" baseline="0"/>
            </a:lvl4pPr>
            <a:lvl5pPr marL="914400" indent="0">
              <a:lnSpc>
                <a:spcPct val="100000"/>
              </a:lnSpc>
              <a:buNone/>
              <a:defRPr sz="4000" b="1" cap="all" baseline="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6DC5F9A-93BE-3155-B9FF-4F2B904E7EDC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34600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1D5172-97DD-EE7A-066E-A8782AEFC905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96" y="-1133856"/>
            <a:ext cx="10652760" cy="100133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F8BC6-0973-431F-9F88-90604F102123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9396" y="1001715"/>
            <a:ext cx="9459008" cy="53780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4000" b="1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4000" b="1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4000" b="1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4000" b="1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4000" b="1" cap="all" baseline="0">
                <a:latin typeface="+mn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93CE3A-3702-5441-A16B-15475B1AC32C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1912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5B07A5-D0B6-BEDF-13F7-7E32618B6773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309F-82F1-48B4-8AF1-7FAFA4EA46A8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3479" y="1001713"/>
            <a:ext cx="10924473" cy="537806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4000" b="0" i="0" cap="all" baseline="0">
                <a:latin typeface="+mn-lt"/>
              </a:defRPr>
            </a:lvl1pPr>
            <a:lvl2pPr marL="228600" indent="0">
              <a:lnSpc>
                <a:spcPct val="100000"/>
              </a:lnSpc>
              <a:buNone/>
              <a:defRPr sz="4000" b="0" i="0" cap="all" baseline="0">
                <a:latin typeface="+mn-lt"/>
              </a:defRPr>
            </a:lvl2pPr>
            <a:lvl3pPr marL="457200" indent="0">
              <a:lnSpc>
                <a:spcPct val="100000"/>
              </a:lnSpc>
              <a:buNone/>
              <a:defRPr sz="4000" b="0" i="0" cap="all" baseline="0">
                <a:latin typeface="+mn-lt"/>
              </a:defRPr>
            </a:lvl3pPr>
            <a:lvl4pPr marL="685800" indent="0">
              <a:lnSpc>
                <a:spcPct val="100000"/>
              </a:lnSpc>
              <a:buNone/>
              <a:defRPr sz="4000" b="0" i="0" cap="all" baseline="0">
                <a:latin typeface="+mn-lt"/>
              </a:defRPr>
            </a:lvl4pPr>
            <a:lvl5pPr marL="914400" indent="0">
              <a:lnSpc>
                <a:spcPct val="100000"/>
              </a:lnSpc>
              <a:buNone/>
              <a:defRPr sz="4000" b="0" i="0" cap="all" baseline="0">
                <a:latin typeface="+mn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71C1F5-4C28-1974-E5FE-84A75C2718B0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7650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518A1F-ACCA-80D1-B725-434280AEC752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29" y="5907727"/>
            <a:ext cx="9980960" cy="381000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6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7C51-8093-4086-9EBD-6F9D3CF38435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001717"/>
            <a:ext cx="9980960" cy="3726808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DBAF72-4C6A-14D9-5801-64F0FA350F7C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9051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D47CB2-2DC0-2D1C-3E20-3B23C0394451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28" y="5815584"/>
            <a:ext cx="10923925" cy="511644"/>
          </a:xfrm>
        </p:spPr>
        <p:txBody>
          <a:bodyPr anchor="b">
            <a:noAutofit/>
          </a:bodyPr>
          <a:lstStyle>
            <a:lvl1pPr>
              <a:lnSpc>
                <a:spcPct val="120000"/>
              </a:lnSpc>
              <a:defRPr sz="1600" b="0" i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B3AEC4-477A-480C-8C3E-559E8B429188}" type="datetime1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2416"/>
            <a:ext cx="10923925" cy="4037312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5DE24C-5070-BB46-4081-8ED244198E0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516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708A38-78BC-D3CE-5C55-65C094C8935A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37" y="5749160"/>
            <a:ext cx="8956676" cy="567558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6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3BA6-8D49-4675-9508-BB867C793A49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001715"/>
            <a:ext cx="9037984" cy="3726810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108F76-E7E3-1812-8331-DCE59FFE0DFB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1454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3CF370-3CA5-B9C3-AA2C-1D52A27AD182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5"/>
            <a:ext cx="10923934" cy="11277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8E83-499B-42C0-A29C-116A7958FAB2}" type="datetime1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30" y="2129474"/>
            <a:ext cx="5266090" cy="409352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886" y="2129473"/>
            <a:ext cx="5266078" cy="4093526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DA0E66B-621F-DCB6-E24E-748318E12F2D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8156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A96DE7-ACFB-A025-20F2-1C9A4CEF7566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10923934" cy="68897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FD23-2163-447C-A80D-D0B4B313F4F9}" type="datetime1">
              <a:rPr lang="en-US" smtClean="0"/>
              <a:t>8/19/2026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472" y="1685735"/>
            <a:ext cx="5266644" cy="81045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596" y="2496190"/>
            <a:ext cx="5265520" cy="372681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85735"/>
            <a:ext cx="5271464" cy="81045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496190"/>
            <a:ext cx="5271464" cy="372681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FC723C3-DA4A-8D71-987B-EB7E7A74D1E6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8460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A141C8-6351-7BB4-B97D-32DF6F45DBC5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10923933" cy="112776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927C-C7F8-47B0-9A1C-DEAC93AC4235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8218CD-6934-8D18-A575-7C745D80A6C4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05866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E09A4A-7256-DFB0-F197-FAC31C991665}"/>
              </a:ext>
            </a:extLst>
          </p:cNvPr>
          <p:cNvCxnSpPr/>
          <p:nvPr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B669C-B2F2-4540-973C-9431C4193843}" type="datetime1">
              <a:rPr lang="en-US" smtClean="0"/>
              <a:t>8/19/2026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71AA78-5D18-EE68-E9E7-A1075C78BC20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1823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1" y="1001716"/>
            <a:ext cx="4328496" cy="1122374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AE40-9A04-413D-8631-F7A90F9EBCFC}" type="datetime1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4A6C7F-9167-3CFF-8E30-53AE9D6BB738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0" y="2496190"/>
            <a:ext cx="4328506" cy="372681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910" y="1001715"/>
            <a:ext cx="6209053" cy="522128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C0A275-A2A5-8AD0-2E0F-DDE194CF88B0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11082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5"/>
            <a:ext cx="3771899" cy="1875474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4C3A-EE25-431B-80B1-4EF91AFC3103}" type="datetime1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9" y="3242949"/>
            <a:ext cx="3771899" cy="306325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E95682-83E4-B8FD-0229-98470A1CACC8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7" y="634999"/>
            <a:ext cx="6595437" cy="558800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2BD7F5-CDD3-75CC-75F0-0D3B429420E5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0980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373816"/>
            <a:ext cx="8481399" cy="1607128"/>
          </a:xfrm>
        </p:spPr>
        <p:txBody>
          <a:bodyPr anchor="b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4C3B674-A5BF-456A-8269-F8CA9F763AF0}" type="datetime1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4F35B0-78B0-CF96-BDA9-3D1E19B0636E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3481" y="3615051"/>
            <a:ext cx="10367898" cy="260794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600">
                <a:solidFill>
                  <a:schemeClr val="tx1"/>
                </a:solidFill>
              </a:defRPr>
            </a:lvl3pPr>
            <a:lvl4pPr marL="685800" indent="0">
              <a:buNone/>
              <a:defRPr sz="1600">
                <a:solidFill>
                  <a:schemeClr val="tx1"/>
                </a:solidFill>
              </a:defRPr>
            </a:lvl4pPr>
            <a:lvl5pPr marL="914400" indent="0"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5FE6CEC-AEBC-8860-A62E-637765B0DE26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6318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756098"/>
            <a:ext cx="10923925" cy="2595476"/>
          </a:xfrm>
        </p:spPr>
        <p:txBody>
          <a:bodyPr anchor="b">
            <a:noAutofit/>
          </a:bodyPr>
          <a:lstStyle>
            <a:lvl1pPr>
              <a:defRPr sz="4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31587E-E768-0BED-F16B-618390A49DBC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C9D3C1B-3A72-4E86-BA17-923EE76E5763}" type="datetime1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3485" y="4732574"/>
            <a:ext cx="6595990" cy="1605164"/>
          </a:xfrm>
        </p:spPr>
        <p:txBody>
          <a:bodyPr anchor="b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</a:defRPr>
            </a:lvl2pPr>
            <a:lvl3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</a:defRPr>
            </a:lvl3pPr>
            <a:lvl4pPr marL="6858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</a:defRPr>
            </a:lvl4pPr>
            <a:lvl5pPr marL="9144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329D384-6BDA-A5B3-C1ED-7DADE9654365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966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" y="6492513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tx1"/>
                </a:solidFill>
                <a:latin typeface="+mn-lt"/>
                <a:ea typeface="Batang" panose="02030600000101010101" pitchFamily="18" charset="-127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067304" y="2231454"/>
            <a:ext cx="4564376" cy="429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Batang" panose="02030600000101010101" pitchFamily="18" charset="-127"/>
              </a:defRPr>
            </a:lvl1pPr>
          </a:lstStyle>
          <a:p>
            <a:r>
              <a:rPr lang="en-US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532352" y="5260879"/>
            <a:ext cx="1494475" cy="429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+mn-lt"/>
                <a:ea typeface="Batang" panose="02030600000101010101" pitchFamily="18" charset="-127"/>
              </a:defRPr>
            </a:lvl1pPr>
          </a:lstStyle>
          <a:p>
            <a:fld id="{652F8955-0F19-465D-B095-4EFD5ED08188}" type="datetime1">
              <a:rPr lang="en-US" smtClean="0"/>
              <a:pPr/>
              <a:t>8/19/2026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30" y="2129474"/>
            <a:ext cx="10923934" cy="409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10923934" cy="7556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7627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3" r:id="rId18"/>
    <p:sldLayoutId id="2147483784" r:id="rId19"/>
    <p:sldLayoutId id="2147483785" r:id="rId20"/>
    <p:sldLayoutId id="2147483786" r:id="rId21"/>
    <p:sldLayoutId id="2147483787" r:id="rId22"/>
    <p:sldLayoutId id="2147483788" r:id="rId23"/>
    <p:sldLayoutId id="2147483789" r:id="rId24"/>
    <p:sldLayoutId id="2147483790" r:id="rId25"/>
    <p:sldLayoutId id="2147483791" r:id="rId26"/>
    <p:sldLayoutId id="2147483792" r:id="rId27"/>
    <p:sldLayoutId id="2147483793" r:id="rId28"/>
    <p:sldLayoutId id="2147483794" r:id="rId29"/>
    <p:sldLayoutId id="2147483795" r:id="rId30"/>
    <p:sldLayoutId id="2147483796" r:id="rId31"/>
    <p:sldLayoutId id="2147483797" r:id="rId32"/>
    <p:sldLayoutId id="2147483782" r:id="rId33"/>
    <p:sldLayoutId id="2147483798" r:id="rId34"/>
    <p:sldLayoutId id="2147483799" r:id="rId35"/>
    <p:sldLayoutId id="2147483800" r:id="rId36"/>
    <p:sldLayoutId id="2147483801" r:id="rId37"/>
    <p:sldLayoutId id="2147483802" r:id="rId38"/>
    <p:sldLayoutId id="2147483803" r:id="rId39"/>
    <p:sldLayoutId id="2147483804" r:id="rId40"/>
    <p:sldLayoutId id="2147483805" r:id="rId41"/>
    <p:sldLayoutId id="2147483806" r:id="rId42"/>
    <p:sldLayoutId id="2147483807" r:id="rId43"/>
    <p:sldLayoutId id="2147483808" r:id="rId44"/>
    <p:sldLayoutId id="2147483809" r:id="rId45"/>
    <p:sldLayoutId id="2147483810" r:id="rId46"/>
    <p:sldLayoutId id="2147483811" r:id="rId47"/>
    <p:sldLayoutId id="2147483812" r:id="rId48"/>
    <p:sldLayoutId id="2147483813" r:id="rId49"/>
    <p:sldLayoutId id="2147483814" r:id="rId5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9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1" y="1001715"/>
            <a:ext cx="5955028" cy="4457253"/>
          </a:xfrm>
        </p:spPr>
        <p:txBody>
          <a:bodyPr>
            <a:normAutofit/>
          </a:bodyPr>
          <a:lstStyle/>
          <a:p>
            <a:r>
              <a:rPr lang="en-US" sz="6000"/>
              <a:t>Depression Indicator Prediction</a:t>
            </a: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0EF92AAA-69F5-4BBD-D336-59ACECD4452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2" r="12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77414" y="6375748"/>
            <a:ext cx="4847572" cy="363255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Group 3: Angela Johnson, Annabel Tapia, Naeem Chaudhry, Thiri Kyi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EB3BA55-E37A-74CB-7E2C-BE29D76302F0}"/>
              </a:ext>
            </a:extLst>
          </p:cNvPr>
          <p:cNvSpPr txBox="1">
            <a:spLocks/>
          </p:cNvSpPr>
          <p:nvPr/>
        </p:nvSpPr>
        <p:spPr>
          <a:xfrm>
            <a:off x="634031" y="5458968"/>
            <a:ext cx="4847572" cy="3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Univers Light" panose="020B0403020202020204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Univers Light" panose="020B0403020202020204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Univers Light" panose="020B0403020202020204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Univers Light" panose="020B04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Using NHANES 2017-MAR 2020 &amp; 2021-2023 Data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D9FB-B08B-6550-BEBF-B43074192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97480-562D-362F-4FFD-70F352A1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30805-9EDF-DFE1-AE27-78BEC6928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DEPRESSION INDICATOR PREDICTION</a:t>
            </a:r>
          </a:p>
        </p:txBody>
      </p:sp>
      <p:pic>
        <p:nvPicPr>
          <p:cNvPr id="8" name="Picture Placeholder 7" descr="A white vase with dried flowers">
            <a:extLst>
              <a:ext uri="{FF2B5EF4-FFF2-40B4-BE49-F238E27FC236}">
                <a16:creationId xmlns:a16="http://schemas.microsoft.com/office/drawing/2014/main" id="{AEA16DDC-C63C-0A75-89CD-9003DA6F199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C7904-BA22-561E-1DE0-8E716FCEA69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B2E33"/>
                </a:solidFill>
                <a:ea typeface="Calibri" pitchFamily="34" charset="-122"/>
                <a:cs typeface="Calibri" pitchFamily="34" charset="-120"/>
              </a:rPr>
              <a:t>Depression is a common mental health condition, it affects mood, energy, sleep, and daily functioning for weeks or longer.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B2E33"/>
                </a:solidFill>
                <a:ea typeface="Calibri" pitchFamily="34" charset="-122"/>
                <a:cs typeface="Calibri" pitchFamily="34" charset="-120"/>
              </a:rPr>
              <a:t>It can seriously impact physical health, relationships, work, and overall quality of life.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B2E33"/>
                </a:solidFill>
                <a:ea typeface="Calibri" pitchFamily="34" charset="-122"/>
                <a:cs typeface="Calibri" pitchFamily="34" charset="-120"/>
              </a:rPr>
              <a:t>Doctors and researchers screen for it using standardized questionnaires, our project uses one of the most common ones, the PHQ-9.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7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782E-E94C-F7FF-5DDC-7C1DFF856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GOAL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2D5DC-5C1A-B038-F8C7-B1BA6254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endParaRPr lang="en-US">
              <a:latin typeface="+mj-lt"/>
            </a:endParaRPr>
          </a:p>
          <a:p>
            <a:r>
              <a:rPr lang="en-US">
                <a:latin typeface="+mj-lt"/>
              </a:rPr>
              <a:t>DEPRESSION INDICATOR PREDICTION</a:t>
            </a:r>
          </a:p>
          <a:p>
            <a:endParaRPr lang="en-US"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8C2CB-6E2E-DF1B-8A65-092437051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Placeholder 7" descr="A shadow of a plant on a wall">
            <a:extLst>
              <a:ext uri="{FF2B5EF4-FFF2-40B4-BE49-F238E27FC236}">
                <a16:creationId xmlns:a16="http://schemas.microsoft.com/office/drawing/2014/main" id="{C966E8A7-13DF-B17F-9AC5-30759C47C1A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15141-87C9-23DF-ECBC-B828494C9F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5109524"/>
            <a:ext cx="6208724" cy="751781"/>
          </a:xfrm>
        </p:spPr>
        <p:txBody>
          <a:bodyPr/>
          <a:lstStyle/>
          <a:p>
            <a:r>
              <a:rPr lang="en-US" sz="2000">
                <a:solidFill>
                  <a:srgbClr val="0B2E33"/>
                </a:solidFill>
                <a:latin typeface="+mj-lt"/>
                <a:ea typeface="Calibri" pitchFamily="34" charset="-122"/>
                <a:cs typeface="Calibri" pitchFamily="34" charset="-120"/>
              </a:rPr>
              <a:t>Explore whether everyday health and lifestyle information can help flag higher depression risk.</a:t>
            </a:r>
            <a:endParaRPr lang="en-US" sz="20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99029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96B45-59A7-C589-9ECA-BA4BE7D7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Why it matters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47D68-CFC1-8AF4-FE7E-36D912B1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B7AB3-FA55-AF58-6303-A6C6B7622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DEPRESSION INDICATOR PREDICTION</a:t>
            </a:r>
          </a:p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FE3E85-F977-4917-D2F3-E64C503441F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6" y="2916937"/>
            <a:ext cx="6209054" cy="3204781"/>
          </a:xfrm>
        </p:spPr>
        <p:txBody>
          <a:bodyPr/>
          <a:lstStyle/>
          <a:p>
            <a:r>
              <a:rPr lang="en-US">
                <a:solidFill>
                  <a:srgbClr val="0B2E33"/>
                </a:solidFill>
                <a:ea typeface="Calibri" pitchFamily="34" charset="-122"/>
                <a:cs typeface="Calibri" pitchFamily="34" charset="-120"/>
              </a:rPr>
              <a:t>Depression is common, disabling, and treatable, but many cases go unnoticed.</a:t>
            </a:r>
            <a:endParaRPr lang="en-US"/>
          </a:p>
          <a:p>
            <a:r>
              <a:rPr lang="en-US">
                <a:solidFill>
                  <a:srgbClr val="0B2E33"/>
                </a:solidFill>
                <a:ea typeface="Calibri" pitchFamily="34" charset="-122"/>
                <a:cs typeface="Calibri" pitchFamily="34" charset="-120"/>
              </a:rPr>
              <a:t>Spotting patterns in everyday health and lifestyle data could support earlier screening conversations.</a:t>
            </a:r>
            <a:endParaRPr lang="en-US"/>
          </a:p>
          <a:p>
            <a:r>
              <a:rPr lang="en-US">
                <a:solidFill>
                  <a:srgbClr val="0B2E33"/>
                </a:solidFill>
                <a:ea typeface="Calibri" pitchFamily="34" charset="-122"/>
                <a:cs typeface="Calibri" pitchFamily="34" charset="-120"/>
              </a:rPr>
              <a:t>This is a chance for our team to apply real machine learning skills to a meaningful public health question.</a:t>
            </a:r>
            <a:endParaRPr lang="en-US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CC81EA5-98F4-3EA2-CA59-D0634EDD826A}"/>
              </a:ext>
            </a:extLst>
          </p:cNvPr>
          <p:cNvSpPr/>
          <p:nvPr/>
        </p:nvSpPr>
        <p:spPr>
          <a:xfrm>
            <a:off x="5348916" y="1097279"/>
            <a:ext cx="2926409" cy="1481329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  <p:txBody>
          <a:bodyPr/>
          <a:lstStyle/>
          <a:p>
            <a:r>
              <a:rPr lang="en-US" sz="2400" b="1">
                <a:latin typeface="+mj-lt"/>
                <a:ea typeface="Calibri" pitchFamily="34" charset="-122"/>
                <a:cs typeface="Calibri" pitchFamily="34" charset="-120"/>
              </a:rPr>
              <a:t>13.1%</a:t>
            </a:r>
          </a:p>
          <a:p>
            <a:endParaRPr lang="en-US" sz="1400">
              <a:ea typeface="Calibri" pitchFamily="34" charset="-122"/>
              <a:cs typeface="Calibri" pitchFamily="34" charset="-120"/>
            </a:endParaRPr>
          </a:p>
          <a:p>
            <a:r>
              <a:rPr lang="en-US" sz="1400">
                <a:ea typeface="Calibri" pitchFamily="34" charset="-122"/>
                <a:cs typeface="Calibri" pitchFamily="34" charset="-120"/>
              </a:rPr>
              <a:t>of U.S. adolescents &amp; adults</a:t>
            </a:r>
            <a:endParaRPr lang="en-US" sz="1400"/>
          </a:p>
          <a:p>
            <a:r>
              <a:rPr lang="en-US" sz="1400">
                <a:ea typeface="Calibri" pitchFamily="34" charset="-122"/>
                <a:cs typeface="Calibri" pitchFamily="34" charset="-120"/>
              </a:rPr>
              <a:t>screened positive for depression</a:t>
            </a:r>
            <a:endParaRPr lang="en-US" sz="1400"/>
          </a:p>
          <a:p>
            <a:r>
              <a:rPr lang="en-US" sz="1400">
                <a:ea typeface="Calibri" pitchFamily="34" charset="-122"/>
                <a:cs typeface="Calibri" pitchFamily="34" charset="-120"/>
              </a:rPr>
              <a:t>(CDC, NHANES 2021–2023)</a:t>
            </a:r>
            <a:endParaRPr lang="en-US" sz="140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BBCF3CB5-F081-C8B8-AC0E-F035302F6386}"/>
              </a:ext>
            </a:extLst>
          </p:cNvPr>
          <p:cNvSpPr/>
          <p:nvPr/>
        </p:nvSpPr>
        <p:spPr>
          <a:xfrm>
            <a:off x="8631561" y="1097278"/>
            <a:ext cx="2926409" cy="1481329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  <p:txBody>
          <a:bodyPr/>
          <a:lstStyle/>
          <a:p>
            <a:r>
              <a:rPr lang="en-US" sz="2400" b="1">
                <a:latin typeface="+mj-lt"/>
                <a:ea typeface="Calibri" pitchFamily="34" charset="-122"/>
                <a:cs typeface="Calibri" pitchFamily="34" charset="-120"/>
              </a:rPr>
              <a:t>60%</a:t>
            </a:r>
          </a:p>
          <a:p>
            <a:endParaRPr lang="en-US" sz="1400">
              <a:ea typeface="Calibri" pitchFamily="34" charset="-122"/>
              <a:cs typeface="Calibri" pitchFamily="34" charset="-120"/>
            </a:endParaRPr>
          </a:p>
          <a:p>
            <a:r>
              <a:rPr lang="en-US" sz="1400">
                <a:ea typeface="Calibri" pitchFamily="34" charset="-122"/>
                <a:cs typeface="Calibri" pitchFamily="34" charset="-120"/>
              </a:rPr>
              <a:t>increase in depression</a:t>
            </a:r>
            <a:endParaRPr lang="en-US" sz="1400"/>
          </a:p>
          <a:p>
            <a:r>
              <a:rPr lang="en-US" sz="1400">
                <a:ea typeface="Calibri" pitchFamily="34" charset="-122"/>
                <a:cs typeface="Calibri" pitchFamily="34" charset="-120"/>
              </a:rPr>
              <a:t>prevalence over the past decade</a:t>
            </a:r>
            <a:endParaRPr lang="en-US" sz="1400"/>
          </a:p>
          <a:p>
            <a:r>
              <a:rPr lang="en-US" sz="1400">
                <a:ea typeface="Calibri" pitchFamily="34" charset="-122"/>
                <a:cs typeface="Calibri" pitchFamily="34" charset="-120"/>
              </a:rPr>
              <a:t>(CDC, released 2025)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566291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THE dATASET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C32F8-E21D-68DC-2A6B-6A44F0117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 and prediction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B0929-CD1B-0E1A-BF53-A7DB452F1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DEPRESSION INDICATOR PREDICTION</a:t>
            </a:r>
          </a:p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5B5EE-EC32-8941-B9F3-74604A2980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30" y="2129475"/>
            <a:ext cx="5266090" cy="31161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Calibri" pitchFamily="34" charset="-122"/>
                <a:cs typeface="Calibri" pitchFamily="34" charset="-120"/>
              </a:rPr>
              <a:t>Source: </a:t>
            </a:r>
            <a:r>
              <a:rPr lang="en-US">
                <a:ea typeface="Calibri" pitchFamily="34" charset="-122"/>
                <a:cs typeface="Calibri" pitchFamily="34" charset="-120"/>
              </a:rPr>
              <a:t>NHANES, combining two cycles 2017-March 2020 (pre-pandemic) and 2021–2023 (post-pandemic) for a larger robust sample</a:t>
            </a:r>
            <a:endParaRPr lang="en-US"/>
          </a:p>
          <a:p>
            <a:pPr marL="0" indent="0">
              <a:buNone/>
            </a:pPr>
            <a:r>
              <a:rPr lang="en-US" b="1">
                <a:ea typeface="Calibri" pitchFamily="34" charset="-122"/>
                <a:cs typeface="Calibri" pitchFamily="34" charset="-120"/>
              </a:rPr>
              <a:t>Target: </a:t>
            </a:r>
            <a:r>
              <a:rPr lang="en-US">
                <a:ea typeface="Calibri" pitchFamily="34" charset="-122"/>
                <a:cs typeface="Calibri" pitchFamily="34" charset="-120"/>
              </a:rPr>
              <a:t>a Depression Flag, built from the PHQ-9 (9 standard screening questions)</a:t>
            </a:r>
          </a:p>
          <a:p>
            <a:pPr marL="0" indent="0">
              <a:buNone/>
            </a:pPr>
            <a:r>
              <a:rPr lang="en-US">
                <a:ea typeface="Calibri" pitchFamily="34" charset="-122"/>
                <a:cs typeface="Calibri" pitchFamily="34" charset="-120"/>
              </a:rPr>
              <a:t>Score of 10 or higher → flagged as likely depression. Below that, not flagged.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C3E63-211A-BA72-7F7D-8870F352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5570FE5B-E0A4-D69C-1DF6-32FC9192C673}"/>
              </a:ext>
            </a:extLst>
          </p:cNvPr>
          <p:cNvSpPr/>
          <p:nvPr/>
        </p:nvSpPr>
        <p:spPr>
          <a:xfrm>
            <a:off x="6885108" y="2129471"/>
            <a:ext cx="4672856" cy="1482409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 sz="1400" b="1">
              <a:latin typeface="+mj-lt"/>
              <a:ea typeface="Calibri" pitchFamily="34" charset="-122"/>
              <a:cs typeface="Calibri" pitchFamily="34" charset="-120"/>
            </a:endParaRPr>
          </a:p>
          <a:p>
            <a:r>
              <a:rPr lang="en-US" sz="2400" b="1">
                <a:latin typeface="+mj-lt"/>
                <a:ea typeface="Calibri" pitchFamily="34" charset="-122"/>
                <a:cs typeface="Calibri" pitchFamily="34" charset="-120"/>
              </a:rPr>
              <a:t>13,731</a:t>
            </a:r>
          </a:p>
          <a:p>
            <a:endParaRPr lang="en-US" sz="1400">
              <a:ea typeface="Calibri" pitchFamily="34" charset="-122"/>
              <a:cs typeface="Calibri" pitchFamily="34" charset="-120"/>
            </a:endParaRPr>
          </a:p>
          <a:p>
            <a:r>
              <a:rPr lang="en-US" sz="1400">
                <a:ea typeface="Calibri" pitchFamily="34" charset="-122"/>
                <a:cs typeface="Calibri" pitchFamily="34" charset="-120"/>
              </a:rPr>
              <a:t>people with a usable </a:t>
            </a:r>
          </a:p>
          <a:p>
            <a:r>
              <a:rPr lang="en-US" sz="1400">
                <a:ea typeface="Calibri" pitchFamily="34" charset="-122"/>
                <a:cs typeface="Calibri" pitchFamily="34" charset="-120"/>
              </a:rPr>
              <a:t>PHQ-9 score</a:t>
            </a:r>
            <a:endParaRPr lang="en-US" sz="140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6DDF99D9-A594-C916-9A35-30946CD66AB6}"/>
              </a:ext>
            </a:extLst>
          </p:cNvPr>
          <p:cNvSpPr/>
          <p:nvPr/>
        </p:nvSpPr>
        <p:spPr>
          <a:xfrm>
            <a:off x="6885108" y="3763199"/>
            <a:ext cx="4672856" cy="1482409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 sz="1400" b="1">
              <a:latin typeface="+mj-lt"/>
              <a:ea typeface="Calibri" pitchFamily="34" charset="-122"/>
              <a:cs typeface="Calibri" pitchFamily="34" charset="-120"/>
            </a:endParaRPr>
          </a:p>
          <a:p>
            <a:r>
              <a:rPr lang="en-US" sz="2400" b="1">
                <a:latin typeface="+mj-lt"/>
                <a:ea typeface="Calibri" pitchFamily="34" charset="-122"/>
                <a:cs typeface="Calibri" pitchFamily="34" charset="-120"/>
              </a:rPr>
              <a:t>10.9%</a:t>
            </a:r>
          </a:p>
          <a:p>
            <a:endParaRPr lang="en-US" sz="1400">
              <a:ea typeface="Calibri" pitchFamily="34" charset="-122"/>
              <a:cs typeface="Calibri" pitchFamily="34" charset="-120"/>
            </a:endParaRPr>
          </a:p>
          <a:p>
            <a:r>
              <a:rPr lang="en-US" sz="1400">
                <a:ea typeface="Calibri" pitchFamily="34" charset="-122"/>
                <a:cs typeface="Calibri" pitchFamily="34" charset="-120"/>
              </a:rPr>
              <a:t>flagged for likely </a:t>
            </a:r>
          </a:p>
          <a:p>
            <a:r>
              <a:rPr lang="en-US" sz="1400">
                <a:ea typeface="Calibri" pitchFamily="34" charset="-122"/>
                <a:cs typeface="Calibri" pitchFamily="34" charset="-120"/>
              </a:rPr>
              <a:t>depression (1,490 people)</a:t>
            </a:r>
            <a:endParaRPr lang="en-US" sz="140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BB9D28C3-8758-6EDA-E389-69E0F4A6A565}"/>
              </a:ext>
            </a:extLst>
          </p:cNvPr>
          <p:cNvSpPr/>
          <p:nvPr/>
        </p:nvSpPr>
        <p:spPr>
          <a:xfrm>
            <a:off x="634030" y="6158309"/>
            <a:ext cx="10923934" cy="334204"/>
          </a:xfrm>
          <a:prstGeom prst="roundRect">
            <a:avLst>
              <a:gd name="adj" fmla="val 5714"/>
            </a:avLst>
          </a:prstGeom>
          <a:solidFill>
            <a:schemeClr val="accent3"/>
          </a:solidFill>
          <a:ln/>
        </p:spPr>
        <p:txBody>
          <a:bodyPr/>
          <a:lstStyle/>
          <a:p>
            <a:r>
              <a:rPr lang="en-US" sz="1200" i="1">
                <a:latin typeface="72 Condensed" panose="020B0506030000000003" pitchFamily="34" charset="0"/>
                <a:ea typeface="Calibri" pitchFamily="34" charset="-122"/>
                <a:cs typeface="72 Condensed" panose="020B0506030000000003" pitchFamily="34" charset="0"/>
              </a:rPr>
              <a:t>The 2021-2023 slice alone (13.3%) closely matches CDC’s national estimate for that period (13.1%)  and the rise from the pre-pandemic cycle (9.3%) mirrors CDC’s reported decade-long increase.</a:t>
            </a:r>
          </a:p>
        </p:txBody>
      </p:sp>
    </p:spTree>
    <p:extLst>
      <p:ext uri="{BB962C8B-B14F-4D97-AF65-F5344CB8AC3E}">
        <p14:creationId xmlns:p14="http://schemas.microsoft.com/office/powerpoint/2010/main" val="2168735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01D7-435D-8E7D-53C0-66C0C37F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6C6DB8-3FC9-C305-0440-3BB83263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55104D-69A8-58FF-868A-7F17105C2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DEPRESSION INDICATOR PREDICTION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9E7F2-0D61-4491-A0F7-F96292DA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36CAB-BB4B-BDCA-63F6-F77BA904E5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3479" y="1001713"/>
            <a:ext cx="10924473" cy="936815"/>
          </a:xfrm>
        </p:spPr>
        <p:txBody>
          <a:bodyPr/>
          <a:lstStyle/>
          <a:p>
            <a:r>
              <a:rPr lang="en-US"/>
              <a:t>What we are using to predict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D35EBDEA-ABE4-BA2E-616A-AFCE42B35B12}"/>
              </a:ext>
            </a:extLst>
          </p:cNvPr>
          <p:cNvSpPr/>
          <p:nvPr/>
        </p:nvSpPr>
        <p:spPr>
          <a:xfrm>
            <a:off x="941508" y="2339783"/>
            <a:ext cx="2853252" cy="3210625"/>
          </a:xfrm>
          <a:prstGeom prst="roundRect">
            <a:avLst>
              <a:gd name="adj" fmla="val 5714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 sz="1400" b="1">
              <a:latin typeface="+mj-lt"/>
              <a:ea typeface="Calibri" pitchFamily="34" charset="-122"/>
              <a:cs typeface="Calibri" pitchFamily="34" charset="-120"/>
            </a:endParaRPr>
          </a:p>
          <a:p>
            <a:endParaRPr lang="en-US" sz="2400" b="1">
              <a:latin typeface="+mj-lt"/>
              <a:ea typeface="Calibri" pitchFamily="34" charset="-122"/>
              <a:cs typeface="Calibri" pitchFamily="34" charset="-120"/>
            </a:endParaRPr>
          </a:p>
          <a:p>
            <a:endParaRPr lang="en-US" sz="2400" b="1">
              <a:latin typeface="+mj-lt"/>
              <a:ea typeface="Calibri" pitchFamily="34" charset="-122"/>
              <a:cs typeface="Calibri" pitchFamily="34" charset="-120"/>
            </a:endParaRPr>
          </a:p>
          <a:p>
            <a:endParaRPr lang="en-US" sz="2400" b="1">
              <a:latin typeface="+mj-lt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2400" b="1">
                <a:latin typeface="+mj-lt"/>
                <a:ea typeface="Calibri" pitchFamily="34" charset="-122"/>
                <a:cs typeface="Calibri" pitchFamily="34" charset="-120"/>
              </a:rPr>
              <a:t>DEMOGRAPHICS</a:t>
            </a:r>
          </a:p>
          <a:p>
            <a:endParaRPr lang="en-US" sz="1400"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Calibri" pitchFamily="34" charset="-122"/>
                <a:cs typeface="Calibri" pitchFamily="34" charset="-120"/>
              </a:rPr>
              <a:t>Age, 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Calibri" pitchFamily="34" charset="-122"/>
                <a:cs typeface="Calibri" pitchFamily="34" charset="-120"/>
              </a:rPr>
              <a:t>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Calibri" pitchFamily="34" charset="-122"/>
                <a:cs typeface="Calibri" pitchFamily="34" charset="-120"/>
              </a:rPr>
              <a:t>Marital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Calibri" pitchFamily="34" charset="-122"/>
                <a:cs typeface="Calibri" pitchFamily="34" charset="-120"/>
              </a:rPr>
              <a:t>Born in the US</a:t>
            </a:r>
          </a:p>
        </p:txBody>
      </p:sp>
      <p:pic>
        <p:nvPicPr>
          <p:cNvPr id="8" name="Picture 7" descr="Experts: Good Demographic Data Key to Driving Plan Design | PLANADVISER">
            <a:extLst>
              <a:ext uri="{FF2B5EF4-FFF2-40B4-BE49-F238E27FC236}">
                <a16:creationId xmlns:a16="http://schemas.microsoft.com/office/drawing/2014/main" id="{02270697-5F8F-02AD-2517-947C8C6A6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708" y="2582100"/>
            <a:ext cx="1746852" cy="984060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F3FD9664-E569-0990-E6FF-A8403750FA24}"/>
              </a:ext>
            </a:extLst>
          </p:cNvPr>
          <p:cNvSpPr/>
          <p:nvPr/>
        </p:nvSpPr>
        <p:spPr>
          <a:xfrm>
            <a:off x="4512402" y="2298953"/>
            <a:ext cx="2853252" cy="3210625"/>
          </a:xfrm>
          <a:prstGeom prst="roundRect">
            <a:avLst>
              <a:gd name="adj" fmla="val 5714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 sz="1400" b="1">
              <a:latin typeface="+mj-lt"/>
              <a:ea typeface="Calibri" pitchFamily="34" charset="-122"/>
              <a:cs typeface="Calibri" pitchFamily="34" charset="-120"/>
            </a:endParaRPr>
          </a:p>
          <a:p>
            <a:endParaRPr lang="en-US" sz="2400" b="1">
              <a:latin typeface="+mj-lt"/>
              <a:ea typeface="Calibri" pitchFamily="34" charset="-122"/>
              <a:cs typeface="Calibri" pitchFamily="34" charset="-120"/>
            </a:endParaRPr>
          </a:p>
          <a:p>
            <a:endParaRPr lang="en-US" sz="2400" b="1">
              <a:latin typeface="+mj-lt"/>
              <a:ea typeface="Calibri" pitchFamily="34" charset="-122"/>
              <a:cs typeface="Calibri" pitchFamily="34" charset="-120"/>
            </a:endParaRPr>
          </a:p>
          <a:p>
            <a:endParaRPr lang="en-US" sz="2400" b="1">
              <a:latin typeface="+mj-lt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2400" b="1">
                <a:latin typeface="+mj-lt"/>
                <a:ea typeface="Calibri" pitchFamily="34" charset="-122"/>
                <a:cs typeface="Calibri" pitchFamily="34" charset="-120"/>
              </a:rPr>
              <a:t>LIFESTYLE</a:t>
            </a:r>
          </a:p>
          <a:p>
            <a:endParaRPr lang="en-US" sz="1400"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Calibri" pitchFamily="34" charset="-122"/>
                <a:cs typeface="Calibri" pitchFamily="34" charset="-120"/>
              </a:rPr>
              <a:t>Sleep hours (weekday/weekend)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Calibri" pitchFamily="34" charset="-122"/>
                <a:cs typeface="Calibri" pitchFamily="34" charset="-120"/>
              </a:rPr>
              <a:t>Physical activity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Calibri" pitchFamily="34" charset="-122"/>
                <a:cs typeface="Calibri" pitchFamily="34" charset="-120"/>
              </a:rPr>
              <a:t>Smoking and alcohol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Calibri" pitchFamily="34" charset="-122"/>
                <a:cs typeface="Calibri" pitchFamily="34" charset="-120"/>
              </a:rPr>
              <a:t>HIV testing history</a:t>
            </a:r>
          </a:p>
        </p:txBody>
      </p:sp>
      <p:pic>
        <p:nvPicPr>
          <p:cNvPr id="11" name="Picture 10" descr="7,100+ Cartoon Marathon Stock Photos, Pictures &amp; Royalty-Free Images - iStock">
            <a:extLst>
              <a:ext uri="{FF2B5EF4-FFF2-40B4-BE49-F238E27FC236}">
                <a16:creationId xmlns:a16="http://schemas.microsoft.com/office/drawing/2014/main" id="{386192A0-76CF-EF15-6C7B-3BA0EFE44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070" y="2582100"/>
            <a:ext cx="1613916" cy="984060"/>
          </a:xfrm>
          <a:prstGeom prst="rect">
            <a:avLst/>
          </a:prstGeom>
        </p:spPr>
      </p:pic>
      <p:sp>
        <p:nvSpPr>
          <p:cNvPr id="13" name="Shape 2">
            <a:extLst>
              <a:ext uri="{FF2B5EF4-FFF2-40B4-BE49-F238E27FC236}">
                <a16:creationId xmlns:a16="http://schemas.microsoft.com/office/drawing/2014/main" id="{A8A4CDA2-B632-1245-FE6B-54FCB485E613}"/>
              </a:ext>
            </a:extLst>
          </p:cNvPr>
          <p:cNvSpPr/>
          <p:nvPr/>
        </p:nvSpPr>
        <p:spPr>
          <a:xfrm>
            <a:off x="8083296" y="2298952"/>
            <a:ext cx="2853252" cy="3210625"/>
          </a:xfrm>
          <a:prstGeom prst="roundRect">
            <a:avLst>
              <a:gd name="adj" fmla="val 5714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 sz="1400" b="1">
              <a:latin typeface="+mj-lt"/>
              <a:ea typeface="Calibri" pitchFamily="34" charset="-122"/>
              <a:cs typeface="Calibri" pitchFamily="34" charset="-120"/>
            </a:endParaRPr>
          </a:p>
          <a:p>
            <a:endParaRPr lang="en-US" sz="2400" b="1">
              <a:latin typeface="+mj-lt"/>
              <a:ea typeface="Calibri" pitchFamily="34" charset="-122"/>
              <a:cs typeface="Calibri" pitchFamily="34" charset="-120"/>
            </a:endParaRPr>
          </a:p>
          <a:p>
            <a:endParaRPr lang="en-US" sz="2400" b="1">
              <a:latin typeface="+mj-lt"/>
              <a:ea typeface="Calibri" pitchFamily="34" charset="-122"/>
              <a:cs typeface="Calibri" pitchFamily="34" charset="-120"/>
            </a:endParaRPr>
          </a:p>
          <a:p>
            <a:endParaRPr lang="en-US" sz="2400" b="1">
              <a:latin typeface="+mj-lt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2400" b="1">
                <a:latin typeface="+mj-lt"/>
                <a:ea typeface="Calibri" pitchFamily="34" charset="-122"/>
                <a:cs typeface="Calibri" pitchFamily="34" charset="-120"/>
              </a:rPr>
              <a:t>INCOME</a:t>
            </a:r>
          </a:p>
          <a:p>
            <a:endParaRPr lang="en-US" sz="1400"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Calibri" pitchFamily="34" charset="-122"/>
                <a:cs typeface="Calibri" pitchFamily="34" charset="-120"/>
              </a:rPr>
              <a:t>Income-to-poverty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Calibri" pitchFamily="34" charset="-122"/>
                <a:cs typeface="Calibri" pitchFamily="34" charset="-120"/>
              </a:rPr>
              <a:t>Monthly poverty index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Calibri" pitchFamily="34" charset="-122"/>
                <a:cs typeface="Calibri" pitchFamily="34" charset="-120"/>
              </a:rPr>
              <a:t>Family income category</a:t>
            </a:r>
          </a:p>
        </p:txBody>
      </p:sp>
      <p:pic>
        <p:nvPicPr>
          <p:cNvPr id="14" name="Picture 13" descr="1,100+ No Money Wallet Stock Illustrations, Royalty-Free Vector Graphics &amp;  Clip Art - iStock">
            <a:extLst>
              <a:ext uri="{FF2B5EF4-FFF2-40B4-BE49-F238E27FC236}">
                <a16:creationId xmlns:a16="http://schemas.microsoft.com/office/drawing/2014/main" id="{9516FB03-2B5D-3552-E75D-0C213AD88ED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4" t="19178" r="-669" b="18238"/>
          <a:stretch>
            <a:fillRect/>
          </a:stretch>
        </p:blipFill>
        <p:spPr>
          <a:xfrm>
            <a:off x="8686800" y="2582100"/>
            <a:ext cx="1657512" cy="100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95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39218-F552-50B8-BC7E-C804A2631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34E7B-1A7B-9B83-7449-42E6B8F6F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DEPRESSION INDICATOR PREDICTION</a:t>
            </a:r>
          </a:p>
          <a:p>
            <a:endParaRPr lang="en-US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F876244A-46C2-4467-E78D-9BC0E9B50D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3479" y="1001713"/>
            <a:ext cx="10924473" cy="936815"/>
          </a:xfrm>
        </p:spPr>
        <p:txBody>
          <a:bodyPr/>
          <a:lstStyle/>
          <a:p>
            <a:r>
              <a:rPr lang="en-US" sz="4000"/>
              <a:t>GETTING THE DATA READY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8A7B6BAD-AEEB-872D-CEB3-839A4C8B2AD6}"/>
              </a:ext>
            </a:extLst>
          </p:cNvPr>
          <p:cNvSpPr txBox="1">
            <a:spLocks/>
          </p:cNvSpPr>
          <p:nvPr/>
        </p:nvSpPr>
        <p:spPr>
          <a:xfrm>
            <a:off x="633479" y="1938528"/>
            <a:ext cx="6209054" cy="44531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ea typeface="Calibri" pitchFamily="34" charset="-122"/>
                <a:cs typeface="Calibri" pitchFamily="34" charset="-120"/>
              </a:rPr>
              <a:t>Raw survey data uses special codes for “Refused” and “Don’t know”, we have converted those to real missing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ea typeface="Calibri" pitchFamily="34" charset="-122"/>
                <a:cs typeface="Calibri" pitchFamily="34" charset="-120"/>
              </a:rPr>
              <a:t>Combined two separate NHANES survey cycles into one consistent table on a shared set of columns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ea typeface="Calibri" pitchFamily="34" charset="-122"/>
                <a:cs typeface="Calibri" pitchFamily="34" charset="-120"/>
              </a:rPr>
              <a:t>Filled in the small number of remaining </a:t>
            </a:r>
            <a:r>
              <a:rPr lang="en-US" sz="2400"/>
              <a:t>gaps so that every row was complete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04B71548-B520-2BAE-D136-BB63495C21F3}"/>
              </a:ext>
            </a:extLst>
          </p:cNvPr>
          <p:cNvSpPr/>
          <p:nvPr/>
        </p:nvSpPr>
        <p:spPr>
          <a:xfrm>
            <a:off x="9507337" y="1928759"/>
            <a:ext cx="2151263" cy="1372225"/>
          </a:xfrm>
          <a:prstGeom prst="roundRect">
            <a:avLst>
              <a:gd name="adj" fmla="val 5714"/>
            </a:avLst>
          </a:prstGeom>
          <a:solidFill>
            <a:schemeClr val="accent5"/>
          </a:solidFill>
          <a:ln/>
        </p:spPr>
        <p:txBody>
          <a:bodyPr/>
          <a:lstStyle/>
          <a:p>
            <a:r>
              <a:rPr lang="en-US" sz="1000" b="1">
                <a:latin typeface="72 Black" panose="020B0A04030603020204" pitchFamily="34" charset="0"/>
                <a:ea typeface="Calibri" pitchFamily="34" charset="-122"/>
                <a:cs typeface="72 Black" panose="020B0A04030603020204" pitchFamily="34" charset="0"/>
              </a:rPr>
              <a:t>AFTER:</a:t>
            </a:r>
          </a:p>
          <a:p>
            <a:endParaRPr lang="en-US" sz="1000" b="1">
              <a:latin typeface="72 Black" panose="020B0A04030603020204" pitchFamily="34" charset="0"/>
              <a:ea typeface="Calibri" pitchFamily="34" charset="-122"/>
              <a:cs typeface="72 Black" panose="020B0A04030603020204" pitchFamily="34" charset="0"/>
            </a:endParaRPr>
          </a:p>
          <a:p>
            <a:r>
              <a:rPr lang="en-US" sz="2400" b="1">
                <a:latin typeface="+mj-lt"/>
                <a:ea typeface="Calibri" pitchFamily="34" charset="-122"/>
                <a:cs typeface="Calibri" pitchFamily="34" charset="-120"/>
              </a:rPr>
              <a:t>13,731</a:t>
            </a:r>
          </a:p>
          <a:p>
            <a:endParaRPr lang="en-US" sz="1400">
              <a:ea typeface="Calibri" pitchFamily="34" charset="-122"/>
              <a:cs typeface="Calibri" pitchFamily="34" charset="-120"/>
            </a:endParaRPr>
          </a:p>
          <a:p>
            <a:r>
              <a:rPr lang="en-US" sz="1200">
                <a:ea typeface="Calibri" pitchFamily="34" charset="-122"/>
                <a:cs typeface="Calibri" pitchFamily="34" charset="-120"/>
              </a:rPr>
              <a:t>people across two survey cycles</a:t>
            </a:r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D31A1BA7-E8D5-F5DB-0D0C-E2B043718E50}"/>
              </a:ext>
            </a:extLst>
          </p:cNvPr>
          <p:cNvSpPr/>
          <p:nvPr/>
        </p:nvSpPr>
        <p:spPr>
          <a:xfrm>
            <a:off x="9507337" y="3429000"/>
            <a:ext cx="2151263" cy="1313610"/>
          </a:xfrm>
          <a:prstGeom prst="roundRect">
            <a:avLst>
              <a:gd name="adj" fmla="val 5714"/>
            </a:avLst>
          </a:prstGeom>
          <a:solidFill>
            <a:schemeClr val="accent5"/>
          </a:solidFill>
          <a:ln/>
        </p:spPr>
        <p:txBody>
          <a:bodyPr/>
          <a:lstStyle/>
          <a:p>
            <a:r>
              <a:rPr lang="en-US" sz="1000" b="1">
                <a:latin typeface="72 Black" panose="020B0A04030603020204" pitchFamily="34" charset="0"/>
                <a:ea typeface="Calibri" pitchFamily="34" charset="-122"/>
                <a:cs typeface="72 Black" panose="020B0A04030603020204" pitchFamily="34" charset="0"/>
              </a:rPr>
              <a:t>AFTER:</a:t>
            </a:r>
          </a:p>
          <a:p>
            <a:endParaRPr lang="en-US" sz="1000" b="1">
              <a:latin typeface="72 Black" panose="020B0A04030603020204" pitchFamily="34" charset="0"/>
              <a:ea typeface="Calibri" pitchFamily="34" charset="-122"/>
              <a:cs typeface="72 Black" panose="020B0A04030603020204" pitchFamily="34" charset="0"/>
            </a:endParaRPr>
          </a:p>
          <a:p>
            <a:r>
              <a:rPr lang="en-US" sz="2400" b="1">
                <a:latin typeface="+mj-lt"/>
                <a:ea typeface="Calibri" pitchFamily="34" charset="-122"/>
                <a:cs typeface="Calibri" pitchFamily="34" charset="-120"/>
              </a:rPr>
              <a:t>28</a:t>
            </a:r>
          </a:p>
          <a:p>
            <a:endParaRPr lang="en-US" sz="1400">
              <a:ea typeface="Calibri" pitchFamily="34" charset="-122"/>
              <a:cs typeface="Calibri" pitchFamily="34" charset="-120"/>
            </a:endParaRPr>
          </a:p>
          <a:p>
            <a:r>
              <a:rPr lang="en-US" sz="1200">
                <a:ea typeface="Calibri" pitchFamily="34" charset="-122"/>
                <a:cs typeface="Calibri" pitchFamily="34" charset="-120"/>
              </a:rPr>
              <a:t>clean columns, 0 missing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D589F65F-DE23-1E49-A516-515F668B3877}"/>
              </a:ext>
            </a:extLst>
          </p:cNvPr>
          <p:cNvSpPr/>
          <p:nvPr/>
        </p:nvSpPr>
        <p:spPr>
          <a:xfrm>
            <a:off x="7152952" y="1938528"/>
            <a:ext cx="2151263" cy="1372225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/>
        </p:spPr>
        <p:txBody>
          <a:bodyPr/>
          <a:lstStyle/>
          <a:p>
            <a:r>
              <a:rPr lang="en-US" sz="1000" b="1">
                <a:latin typeface="72 Black" panose="020B0A04030603020204" pitchFamily="34" charset="0"/>
                <a:ea typeface="Calibri" pitchFamily="34" charset="-122"/>
                <a:cs typeface="72 Black" panose="020B0A04030603020204" pitchFamily="34" charset="0"/>
              </a:rPr>
              <a:t>BEFORE:</a:t>
            </a:r>
          </a:p>
          <a:p>
            <a:endParaRPr lang="en-US" sz="1000" b="1">
              <a:latin typeface="72 Black" panose="020B0A04030603020204" pitchFamily="34" charset="0"/>
              <a:ea typeface="Calibri" pitchFamily="34" charset="-122"/>
              <a:cs typeface="72 Black" panose="020B0A04030603020204" pitchFamily="34" charset="0"/>
            </a:endParaRPr>
          </a:p>
          <a:p>
            <a:r>
              <a:rPr lang="en-US" sz="2400" b="1">
                <a:latin typeface="+mj-lt"/>
                <a:ea typeface="Calibri" pitchFamily="34" charset="-122"/>
                <a:cs typeface="Calibri" pitchFamily="34" charset="-120"/>
              </a:rPr>
              <a:t>27,493</a:t>
            </a:r>
          </a:p>
          <a:p>
            <a:endParaRPr lang="en-US" sz="1400">
              <a:ea typeface="Calibri" pitchFamily="34" charset="-122"/>
              <a:cs typeface="Calibri" pitchFamily="34" charset="-120"/>
            </a:endParaRPr>
          </a:p>
          <a:p>
            <a:r>
              <a:rPr lang="en-US" sz="1200">
                <a:ea typeface="Calibri" pitchFamily="34" charset="-122"/>
                <a:cs typeface="Calibri" pitchFamily="34" charset="-120"/>
              </a:rPr>
              <a:t>people across two survey cycles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D058140-0D3B-76E4-6CCD-4449CC085189}"/>
              </a:ext>
            </a:extLst>
          </p:cNvPr>
          <p:cNvSpPr/>
          <p:nvPr/>
        </p:nvSpPr>
        <p:spPr>
          <a:xfrm>
            <a:off x="7152952" y="3429000"/>
            <a:ext cx="2151263" cy="131361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/>
        </p:spPr>
        <p:txBody>
          <a:bodyPr/>
          <a:lstStyle/>
          <a:p>
            <a:r>
              <a:rPr lang="en-US" sz="1000" b="1">
                <a:latin typeface="72 Black" panose="020B0A04030603020204" pitchFamily="34" charset="0"/>
                <a:ea typeface="Calibri" pitchFamily="34" charset="-122"/>
                <a:cs typeface="72 Black" panose="020B0A04030603020204" pitchFamily="34" charset="0"/>
              </a:rPr>
              <a:t>BEFORE:</a:t>
            </a:r>
          </a:p>
          <a:p>
            <a:endParaRPr lang="en-US" sz="1000" b="1">
              <a:latin typeface="72 Black" panose="020B0A04030603020204" pitchFamily="34" charset="0"/>
              <a:ea typeface="Calibri" pitchFamily="34" charset="-122"/>
              <a:cs typeface="72 Black" panose="020B0A04030603020204" pitchFamily="34" charset="0"/>
            </a:endParaRPr>
          </a:p>
          <a:p>
            <a:r>
              <a:rPr lang="en-US" sz="2400" b="1">
                <a:latin typeface="+mj-lt"/>
                <a:ea typeface="Calibri" pitchFamily="34" charset="-122"/>
                <a:cs typeface="Calibri" pitchFamily="34" charset="-120"/>
              </a:rPr>
              <a:t>116-118</a:t>
            </a:r>
          </a:p>
          <a:p>
            <a:endParaRPr lang="en-US" sz="1400">
              <a:ea typeface="Calibri" pitchFamily="34" charset="-122"/>
              <a:cs typeface="Calibri" pitchFamily="34" charset="-120"/>
            </a:endParaRPr>
          </a:p>
          <a:p>
            <a:r>
              <a:rPr lang="en-US" sz="1200">
                <a:ea typeface="Calibri" pitchFamily="34" charset="-122"/>
                <a:cs typeface="Calibri" pitchFamily="34" charset="-120"/>
              </a:rPr>
              <a:t>raw columns</a:t>
            </a:r>
          </a:p>
        </p:txBody>
      </p:sp>
    </p:spTree>
    <p:extLst>
      <p:ext uri="{BB962C8B-B14F-4D97-AF65-F5344CB8AC3E}">
        <p14:creationId xmlns:p14="http://schemas.microsoft.com/office/powerpoint/2010/main" val="3902066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C6823-F970-2CBF-DF06-EAEC5B28F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8167A-615E-8AAF-3735-AA9C13B1B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Early patterns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D39AF-31F2-FF22-5CE1-B05F12D4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DEPRESSION INDICATOR PREDICTION</a:t>
            </a:r>
          </a:p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FD779-07FF-3EEE-677F-3D730227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0322DFFA-21E5-7C32-9B8B-DFAE6AB348D4}"/>
              </a:ext>
            </a:extLst>
          </p:cNvPr>
          <p:cNvSpPr/>
          <p:nvPr/>
        </p:nvSpPr>
        <p:spPr>
          <a:xfrm>
            <a:off x="8385048" y="1719164"/>
            <a:ext cx="3172916" cy="4137118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  <p:txBody>
          <a:bodyPr lIns="91440" tIns="45720" rIns="91440" bIns="45720" anchor="ctr"/>
          <a:lstStyle/>
          <a:p>
            <a:r>
              <a:rPr lang="en-US" sz="1600" b="1">
                <a:latin typeface="+mj-lt"/>
                <a:ea typeface="Calibri"/>
                <a:cs typeface="Calibri"/>
              </a:rPr>
              <a:t>WHAT STANDS OUT: </a:t>
            </a:r>
            <a:endParaRPr lang="en-US" sz="1400" b="1">
              <a:latin typeface="+mj-lt"/>
              <a:ea typeface="Calibri"/>
              <a:cs typeface="Calibri"/>
            </a:endParaRPr>
          </a:p>
          <a:p>
            <a:endParaRPr lang="en-US" sz="1600" b="1">
              <a:latin typeface="+mj-lt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200"/>
              <a:t>•</a:t>
            </a:r>
            <a:r>
              <a:rPr lang="en-US" sz="1400"/>
              <a:t> Participants flagged for depression tended to have lower income-to-poverty ratios.</a:t>
            </a:r>
          </a:p>
          <a:p>
            <a:pPr>
              <a:lnSpc>
                <a:spcPct val="150000"/>
              </a:lnSpc>
            </a:pPr>
            <a:r>
              <a:rPr lang="en-US" sz="1400"/>
              <a:t>• The average was 2.13 for the flagged group, compared with 2.79 for the group not flagged.</a:t>
            </a:r>
          </a:p>
          <a:p>
            <a:pPr>
              <a:lnSpc>
                <a:spcPct val="150000"/>
              </a:lnSpc>
            </a:pPr>
            <a:r>
              <a:rPr lang="en-US" sz="1400"/>
              <a:t>• The overlap shows that income is only one part of depression risk.</a:t>
            </a:r>
          </a:p>
          <a:p>
            <a:endParaRPr lang="en-US" sz="1200">
              <a:latin typeface="+mj-lt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F05AD7-55BA-0EB6-248A-16270A2DE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30" y="1787648"/>
            <a:ext cx="6470858" cy="486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932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607DC-CD3E-B8D3-621F-28FAA218C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0E6BB-11EF-558A-30D2-E4B4D45A1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3200"/>
              <a:t>Implementation and tools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47663-FE02-7F73-C901-E9CD3421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C820C-BB38-8EC1-D947-43547720B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DEPRESSION INDICATOR PREDICTION</a:t>
            </a:r>
          </a:p>
          <a:p>
            <a:endParaRPr lang="en-US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F5104F82-4DFD-9826-7576-E55F4FC3C79B}"/>
              </a:ext>
            </a:extLst>
          </p:cNvPr>
          <p:cNvSpPr/>
          <p:nvPr/>
        </p:nvSpPr>
        <p:spPr>
          <a:xfrm>
            <a:off x="5348911" y="2189987"/>
            <a:ext cx="2926409" cy="1768776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  <p:txBody>
          <a:bodyPr lIns="91440" tIns="45720" rIns="91440" bIns="45720" anchor="t"/>
          <a:lstStyle/>
          <a:p>
            <a:r>
              <a:rPr lang="en-US" sz="2400" b="1">
                <a:latin typeface="+mj-lt"/>
                <a:ea typeface="Calibri" pitchFamily="34" charset="-122"/>
                <a:cs typeface="Calibri" pitchFamily="34" charset="-120"/>
              </a:rPr>
              <a:t>Core stack</a:t>
            </a:r>
          </a:p>
          <a:p>
            <a:endParaRPr lang="en-US" sz="1400"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Calibri" pitchFamily="34" charset="-122"/>
                <a:cs typeface="Calibri" pitchFamily="34" charset="-120"/>
              </a:rPr>
              <a:t>Python, Jupyter Notebook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Calibri" pitchFamily="34" charset="-122"/>
                <a:cs typeface="Calibri" pitchFamily="34" charset="-120"/>
              </a:rPr>
              <a:t>Pandas, NumPy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Calibri" pitchFamily="34" charset="-122"/>
                <a:cs typeface="Calibri" pitchFamily="34" charset="-120"/>
              </a:rPr>
              <a:t>GitHub for version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Calibri"/>
                <a:cs typeface="Calibri"/>
              </a:rPr>
              <a:t>Matplotlib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F4A82E55-370C-5692-DDF3-CDCBCC2C2E6E}"/>
              </a:ext>
            </a:extLst>
          </p:cNvPr>
          <p:cNvSpPr/>
          <p:nvPr/>
        </p:nvSpPr>
        <p:spPr>
          <a:xfrm>
            <a:off x="8631556" y="2189987"/>
            <a:ext cx="2926409" cy="1768776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  <p:txBody>
          <a:bodyPr lIns="91440" tIns="45720" rIns="91440" bIns="45720" anchor="t"/>
          <a:lstStyle/>
          <a:p>
            <a:r>
              <a:rPr lang="en-US" sz="2400" b="1">
                <a:latin typeface="+mj-lt"/>
                <a:ea typeface="Calibri" pitchFamily="34" charset="-122"/>
                <a:cs typeface="Calibri" pitchFamily="34" charset="-120"/>
              </a:rPr>
              <a:t>Modeling Libraries</a:t>
            </a:r>
          </a:p>
          <a:p>
            <a:endParaRPr lang="en-US" sz="1400"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Calibri"/>
                <a:cs typeface="Calibri"/>
              </a:rPr>
              <a:t>Scikit-learn (Logistic Regression, SVM, RF)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ea typeface="Calibri" pitchFamily="34" charset="-122"/>
                <a:cs typeface="Calibri" pitchFamily="34" charset="-120"/>
              </a:rPr>
              <a:t>CatBoost</a:t>
            </a:r>
            <a:r>
              <a:rPr lang="en-US" sz="1400"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err="1">
                <a:ea typeface="Calibri" pitchFamily="34" charset="-122"/>
                <a:cs typeface="Calibri" pitchFamily="34" charset="-120"/>
              </a:rPr>
              <a:t>XGBoost</a:t>
            </a:r>
            <a:endParaRPr lang="en-US" sz="1400">
              <a:ea typeface="Calibri" pitchFamily="34" charset="-122"/>
              <a:cs typeface="Calibri" pitchFamily="34" charset="-120"/>
            </a:endParaRPr>
          </a:p>
          <a:p>
            <a:endParaRPr lang="en-US" sz="1400"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EFBD0DA-1EC2-FB7F-D4E3-3AE0F1EA68E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5257800"/>
            <a:ext cx="6209054" cy="863917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All libraries are third-party (open source)</a:t>
            </a:r>
          </a:p>
        </p:txBody>
      </p:sp>
    </p:spTree>
    <p:extLst>
      <p:ext uri="{BB962C8B-B14F-4D97-AF65-F5344CB8AC3E}">
        <p14:creationId xmlns:p14="http://schemas.microsoft.com/office/powerpoint/2010/main" val="4075247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4E7BB-1E58-92A0-034D-D6CBB15EA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C7D9E4A-DBBD-24C0-64D3-C6B4A4786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009B95-A446-BA5E-6C64-102466D2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DEPRESSION INDICATOR PREDICTION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33CA3-F327-E6B0-C4E0-5EE613070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BB18A3-D9F2-7027-418E-4333E5BEED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3479" y="1001713"/>
            <a:ext cx="10924473" cy="936815"/>
          </a:xfrm>
        </p:spPr>
        <p:txBody>
          <a:bodyPr/>
          <a:lstStyle/>
          <a:p>
            <a:r>
              <a:rPr lang="en-US"/>
              <a:t>What we are using to predict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A327B5C9-7D20-A872-9591-BB48F9F109C3}"/>
              </a:ext>
            </a:extLst>
          </p:cNvPr>
          <p:cNvSpPr/>
          <p:nvPr/>
        </p:nvSpPr>
        <p:spPr>
          <a:xfrm>
            <a:off x="633479" y="4192841"/>
            <a:ext cx="2624652" cy="1316736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 sz="1400" b="1">
              <a:latin typeface="+mj-lt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b="1" err="1">
                <a:latin typeface="+mj-lt"/>
                <a:ea typeface="Calibri" pitchFamily="34" charset="-122"/>
                <a:cs typeface="Calibri" pitchFamily="34" charset="-120"/>
              </a:rPr>
              <a:t>CatBoost</a:t>
            </a:r>
            <a:endParaRPr lang="en-US" b="1">
              <a:latin typeface="+mj-lt"/>
              <a:ea typeface="Calibri" pitchFamily="34" charset="-122"/>
              <a:cs typeface="Calibri" pitchFamily="34" charset="-120"/>
            </a:endParaRPr>
          </a:p>
          <a:p>
            <a:endParaRPr lang="en-US" sz="1400"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>
                <a:ea typeface="Calibri" pitchFamily="34" charset="-122"/>
                <a:cs typeface="Calibri" pitchFamily="34" charset="-120"/>
              </a:rPr>
              <a:t>Angela Johnson</a:t>
            </a: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7FE8868E-C4D5-0AAA-34B7-7449610D1561}"/>
              </a:ext>
            </a:extLst>
          </p:cNvPr>
          <p:cNvSpPr/>
          <p:nvPr/>
        </p:nvSpPr>
        <p:spPr>
          <a:xfrm>
            <a:off x="3529079" y="4192841"/>
            <a:ext cx="2624652" cy="1316736"/>
          </a:xfrm>
          <a:prstGeom prst="roundRect">
            <a:avLst>
              <a:gd name="adj" fmla="val 5714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US" sz="1400" b="1">
              <a:latin typeface="+mj-lt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b="1">
                <a:latin typeface="+mj-lt"/>
                <a:ea typeface="Calibri" pitchFamily="34" charset="-122"/>
                <a:cs typeface="Calibri" pitchFamily="34" charset="-120"/>
              </a:rPr>
              <a:t>Random Forest &amp; Logistic Regression</a:t>
            </a:r>
          </a:p>
          <a:p>
            <a:endParaRPr lang="en-US" sz="1400"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>
                <a:ea typeface="Calibri" pitchFamily="34" charset="-122"/>
                <a:cs typeface="Calibri" pitchFamily="34" charset="-120"/>
              </a:rPr>
              <a:t>Thiri Kyi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EF8B57F9-DD97-A1E5-08E8-718448431DA7}"/>
              </a:ext>
            </a:extLst>
          </p:cNvPr>
          <p:cNvSpPr/>
          <p:nvPr/>
        </p:nvSpPr>
        <p:spPr>
          <a:xfrm>
            <a:off x="6424679" y="4261105"/>
            <a:ext cx="2624652" cy="1316736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 sz="1400" b="1">
              <a:latin typeface="+mj-lt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b="1">
                <a:latin typeface="+mj-lt"/>
                <a:ea typeface="Calibri" pitchFamily="34" charset="-122"/>
                <a:cs typeface="Calibri" pitchFamily="34" charset="-120"/>
              </a:rPr>
              <a:t>SVM</a:t>
            </a:r>
          </a:p>
          <a:p>
            <a:endParaRPr lang="en-US" sz="1400"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>
                <a:ea typeface="Calibri" pitchFamily="34" charset="-122"/>
                <a:cs typeface="Calibri" pitchFamily="34" charset="-120"/>
              </a:rPr>
              <a:t>Naeem Chaudhry</a:t>
            </a: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587E57C1-7B4C-B3EA-E1F7-1DA81EE6FB15}"/>
              </a:ext>
            </a:extLst>
          </p:cNvPr>
          <p:cNvSpPr/>
          <p:nvPr/>
        </p:nvSpPr>
        <p:spPr>
          <a:xfrm>
            <a:off x="9320279" y="4261105"/>
            <a:ext cx="2624652" cy="1316736"/>
          </a:xfrm>
          <a:prstGeom prst="roundRect">
            <a:avLst>
              <a:gd name="adj" fmla="val 5714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US" sz="1400" b="1">
              <a:latin typeface="+mj-lt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b="1" err="1">
                <a:latin typeface="+mj-lt"/>
                <a:ea typeface="Calibri" pitchFamily="34" charset="-122"/>
                <a:cs typeface="Calibri" pitchFamily="34" charset="-120"/>
              </a:rPr>
              <a:t>XGBoost</a:t>
            </a:r>
            <a:endParaRPr lang="en-US" b="1">
              <a:latin typeface="+mj-lt"/>
              <a:ea typeface="Calibri" pitchFamily="34" charset="-122"/>
              <a:cs typeface="Calibri" pitchFamily="34" charset="-120"/>
            </a:endParaRPr>
          </a:p>
          <a:p>
            <a:endParaRPr lang="en-US" sz="1400"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>
                <a:ea typeface="Calibri" pitchFamily="34" charset="-122"/>
                <a:cs typeface="Calibri" pitchFamily="34" charset="-120"/>
              </a:rPr>
              <a:t>Annabel Tapia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86591F4C-96EB-99F2-BBB5-F4EB63F25030}"/>
              </a:ext>
            </a:extLst>
          </p:cNvPr>
          <p:cNvSpPr txBox="1">
            <a:spLocks/>
          </p:cNvSpPr>
          <p:nvPr/>
        </p:nvSpPr>
        <p:spPr>
          <a:xfrm>
            <a:off x="633479" y="1938529"/>
            <a:ext cx="10924472" cy="204825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ea typeface="Calibri" pitchFamily="34" charset="-122"/>
                <a:cs typeface="Calibri" pitchFamily="34" charset="-120"/>
              </a:rPr>
              <a:t>We are framing this binary classification: predict Depression_Flag (0 or 1) from the cleaned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ea typeface="Calibri" pitchFamily="34" charset="-122"/>
                <a:cs typeface="Calibri" pitchFamily="34" charset="-120"/>
              </a:rPr>
              <a:t>Everyone trains and tests on the exact same data split giving us results that are comparable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ea typeface="Calibri" pitchFamily="34" charset="-122"/>
                <a:cs typeface="Calibri" pitchFamily="34" charset="-120"/>
              </a:rPr>
              <a:t>Only ~11% of cases are flagged; we are addressing this class imbalance rather than relying on plain accuracy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85351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72092-1D93-1C42-71C9-4C3CD1035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13" y="635637"/>
            <a:ext cx="10923934" cy="755659"/>
          </a:xfrm>
        </p:spPr>
        <p:txBody>
          <a:bodyPr/>
          <a:lstStyle/>
          <a:p>
            <a:r>
              <a:rPr lang="en-US"/>
              <a:t>Results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74622-7DE0-8F9D-5C52-82D39E21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79F98-15E6-6046-8778-50E4BCD42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DEPRESSION INDICATOR PREDICTION</a:t>
            </a:r>
          </a:p>
          <a:p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9780BEB-FFD1-3971-F361-1B40A8D668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9751559"/>
              </p:ext>
            </p:extLst>
          </p:nvPr>
        </p:nvGraphicFramePr>
        <p:xfrm>
          <a:off x="632175" y="1273940"/>
          <a:ext cx="10925168" cy="547725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39080">
                  <a:extLst>
                    <a:ext uri="{9D8B030D-6E8A-4147-A177-3AD203B41FA5}">
                      <a16:colId xmlns:a16="http://schemas.microsoft.com/office/drawing/2014/main" val="3168546316"/>
                    </a:ext>
                  </a:extLst>
                </a:gridCol>
                <a:gridCol w="2321522">
                  <a:extLst>
                    <a:ext uri="{9D8B030D-6E8A-4147-A177-3AD203B41FA5}">
                      <a16:colId xmlns:a16="http://schemas.microsoft.com/office/drawing/2014/main" val="3249273269"/>
                    </a:ext>
                  </a:extLst>
                </a:gridCol>
                <a:gridCol w="2321522">
                  <a:extLst>
                    <a:ext uri="{9D8B030D-6E8A-4147-A177-3AD203B41FA5}">
                      <a16:colId xmlns:a16="http://schemas.microsoft.com/office/drawing/2014/main" val="2175169288"/>
                    </a:ext>
                  </a:extLst>
                </a:gridCol>
                <a:gridCol w="2321522">
                  <a:extLst>
                    <a:ext uri="{9D8B030D-6E8A-4147-A177-3AD203B41FA5}">
                      <a16:colId xmlns:a16="http://schemas.microsoft.com/office/drawing/2014/main" val="3620750959"/>
                    </a:ext>
                  </a:extLst>
                </a:gridCol>
                <a:gridCol w="2321522">
                  <a:extLst>
                    <a:ext uri="{9D8B030D-6E8A-4147-A177-3AD203B41FA5}">
                      <a16:colId xmlns:a16="http://schemas.microsoft.com/office/drawing/2014/main" val="3780406454"/>
                    </a:ext>
                  </a:extLst>
                </a:gridCol>
              </a:tblGrid>
              <a:tr h="912875"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Accuracy</a:t>
                      </a:r>
                      <a:endParaRPr lang="en-US" sz="1600" b="0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F1-score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4231172"/>
                  </a:ext>
                </a:extLst>
              </a:tr>
              <a:tr h="912875">
                <a:tc>
                  <a:txBody>
                    <a:bodyPr/>
                    <a:lstStyle/>
                    <a:p>
                      <a:r>
                        <a:rPr lang="en-US" sz="1600" b="1" i="0" err="1">
                          <a:solidFill>
                            <a:schemeClr val="tx1"/>
                          </a:solidFill>
                          <a:latin typeface="+mn-lt"/>
                        </a:rPr>
                        <a:t>CatBoost</a:t>
                      </a:r>
                      <a:endParaRPr lang="en-US" sz="1600" b="1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i="0">
                          <a:solidFill>
                            <a:schemeClr val="tx1"/>
                          </a:solidFill>
                          <a:latin typeface="+mn-lt"/>
                        </a:rPr>
                        <a:t>0.7573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i="0">
                          <a:solidFill>
                            <a:schemeClr val="tx1"/>
                          </a:solidFill>
                          <a:latin typeface="+mn-lt"/>
                        </a:rPr>
                        <a:t>0.2257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i="0">
                          <a:solidFill>
                            <a:schemeClr val="tx1"/>
                          </a:solidFill>
                          <a:latin typeface="+mn-lt"/>
                        </a:rPr>
                        <a:t>0.4638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i="0">
                          <a:solidFill>
                            <a:schemeClr val="tx1"/>
                          </a:solidFill>
                          <a:latin typeface="+mn-lt"/>
                        </a:rPr>
                        <a:t>0.3036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9441191"/>
                  </a:ext>
                </a:extLst>
              </a:tr>
              <a:tr h="912875"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0.7920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0.2232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0.3277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0.2655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558636"/>
                  </a:ext>
                </a:extLst>
              </a:tr>
              <a:tr h="912875"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0.7820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0.2415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0.4255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0.3082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084103"/>
                  </a:ext>
                </a:extLst>
              </a:tr>
              <a:tr h="912875"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0.7864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0.2577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0.4638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0.3313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158448"/>
                  </a:ext>
                </a:extLst>
              </a:tr>
              <a:tr h="912875">
                <a:tc>
                  <a:txBody>
                    <a:bodyPr/>
                    <a:lstStyle/>
                    <a:p>
                      <a:r>
                        <a:rPr lang="en-US" sz="1600" b="0" i="0" err="1">
                          <a:solidFill>
                            <a:schemeClr val="tx1"/>
                          </a:solidFill>
                          <a:latin typeface="+mn-lt"/>
                        </a:rPr>
                        <a:t>XGBoost</a:t>
                      </a:r>
                      <a:endParaRPr lang="en-US" sz="1600" b="0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0.7723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0.2365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0.4468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>
                          <a:solidFill>
                            <a:schemeClr val="tx1"/>
                          </a:solidFill>
                          <a:latin typeface="+mn-lt"/>
                        </a:rPr>
                        <a:t>0.3093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2950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008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B16D-2F4A-F938-64C3-F8B6808F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1" y="344284"/>
            <a:ext cx="6595448" cy="1113475"/>
          </a:xfrm>
        </p:spPr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50D46-3D0A-D56B-B660-3906C581B93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DEPRESSION INDICATOR PREDICTION</a:t>
            </a:r>
          </a:p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15EF4-E43B-5657-1598-A18FA57949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14</a:t>
            </a:fld>
            <a:endParaRPr lang="en-US"/>
          </a:p>
        </p:txBody>
      </p:sp>
      <p:pic>
        <p:nvPicPr>
          <p:cNvPr id="12" name="Picture Placeholder 11" descr="A chair and table on a balcony">
            <a:extLst>
              <a:ext uri="{FF2B5EF4-FFF2-40B4-BE49-F238E27FC236}">
                <a16:creationId xmlns:a16="http://schemas.microsoft.com/office/drawing/2014/main" id="{97CF5FE8-A2FD-C460-9918-438118B2F24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4" name="Shape 2">
            <a:extLst>
              <a:ext uri="{FF2B5EF4-FFF2-40B4-BE49-F238E27FC236}">
                <a16:creationId xmlns:a16="http://schemas.microsoft.com/office/drawing/2014/main" id="{C4AC5459-2328-58F2-A50B-8E0BF7CB50EF}"/>
              </a:ext>
            </a:extLst>
          </p:cNvPr>
          <p:cNvSpPr/>
          <p:nvPr/>
        </p:nvSpPr>
        <p:spPr>
          <a:xfrm>
            <a:off x="634031" y="1003377"/>
            <a:ext cx="6995986" cy="2428671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  <p:txBody>
          <a:bodyPr lIns="91440" tIns="45720" rIns="91440" bIns="45720" anchor="t"/>
          <a:lstStyle/>
          <a:p>
            <a:r>
              <a:rPr lang="en-US" sz="1600" b="1">
                <a:latin typeface="+mj-lt"/>
                <a:ea typeface="Calibri" pitchFamily="34" charset="-122"/>
                <a:cs typeface="Calibri" pitchFamily="34" charset="-120"/>
              </a:rPr>
              <a:t>ACCOMPLISHMENTS:</a:t>
            </a:r>
          </a:p>
          <a:p>
            <a:endParaRPr lang="en-US" sz="1400"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Calibri" pitchFamily="34" charset="-122"/>
                <a:cs typeface="Calibri" pitchFamily="34" charset="-120"/>
              </a:rPr>
              <a:t>Built a full reproducible cleaning pipeline that combines two NHANES cycles into one model-read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Calibri" pitchFamily="34" charset="-122"/>
                <a:cs typeface="Calibri" pitchFamily="34" charset="-120"/>
              </a:rPr>
              <a:t>Our data’s rate (13.3% post-pandemic vs 9.3 pre-pandemic) echoes CDC’s own reported national trend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+mn-lt"/>
                <a:cs typeface="+mn-lt"/>
              </a:rPr>
              <a:t>Checked whether our top model changed depending on the metric used and reported it honestly instead of picking whichever looked best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+mn-lt"/>
                <a:cs typeface="+mn-lt"/>
              </a:rPr>
              <a:t>Verified all five models were compared fairly, with no data leakage in any of them</a:t>
            </a:r>
            <a:endParaRPr lang="en-US" sz="1400"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C3311DFE-1F81-8C60-0EB4-0A989E7AC302}"/>
              </a:ext>
            </a:extLst>
          </p:cNvPr>
          <p:cNvSpPr/>
          <p:nvPr/>
        </p:nvSpPr>
        <p:spPr>
          <a:xfrm>
            <a:off x="634031" y="3563853"/>
            <a:ext cx="6995986" cy="3112517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  <p:txBody>
          <a:bodyPr lIns="91440" tIns="45720" rIns="91440" bIns="45720" anchor="t"/>
          <a:lstStyle/>
          <a:p>
            <a:r>
              <a:rPr lang="en-US" sz="1600" b="1">
                <a:latin typeface="+mj-lt"/>
                <a:ea typeface="Calibri" pitchFamily="34" charset="-122"/>
                <a:cs typeface="Calibri" pitchFamily="34" charset="-120"/>
              </a:rPr>
              <a:t>CHALLENGES:</a:t>
            </a:r>
          </a:p>
          <a:p>
            <a:pPr marL="285750" indent="-285750">
              <a:buFont typeface="Arial,Sans-Serif"/>
              <a:buChar char="•"/>
            </a:pP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400">
                <a:ea typeface="+mn-lt"/>
                <a:cs typeface="+mn-lt"/>
              </a:rPr>
              <a:t>Five of our originally planned predictors BMI, employment, general health, chronic disease history, and healthcare access were never available in the NHANES files we could access, limiting how complete a risk picture any model could build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400">
                <a:ea typeface="+mn-lt"/>
                <a:cs typeface="+mn-lt"/>
              </a:rPr>
              <a:t>With only ~11% of respondents flagged, every model struggled with low precision (0.23–0.26) expected when predicting a rare outcome from general survey data, but it meant accuracy alone would have been a misleading way to judge success</a:t>
            </a:r>
            <a:endParaRPr lang="en-US" sz="1400"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400">
                <a:ea typeface="+mn-lt"/>
                <a:cs typeface="+mn-lt"/>
              </a:rPr>
              <a:t>Keeping five separate notebooks (one per model, built independently) consistent same feature set, same leakage checks, same train/test discipline took real coordination across the team</a:t>
            </a:r>
            <a:endParaRPr lang="en-US" sz="1400">
              <a:ea typeface="Calibri" pitchFamily="34" charset="-122"/>
              <a:cs typeface="Calibri" pitchFamily="34" charset="-120"/>
            </a:endParaRPr>
          </a:p>
          <a:p>
            <a:endParaRPr lang="en-US" sz="1400"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4936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21CBA-BF0E-B09D-1B6D-7B68C95F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92FE0-4319-A77C-57A1-4733ED755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DEPRESSION INDICATOR PREDICTION</a:t>
            </a:r>
          </a:p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E8512-F192-F148-7D3C-9D173B81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8" name="Picture Placeholder 7" descr="A living room with a white sofa and a coffee table">
            <a:extLst>
              <a:ext uri="{FF2B5EF4-FFF2-40B4-BE49-F238E27FC236}">
                <a16:creationId xmlns:a16="http://schemas.microsoft.com/office/drawing/2014/main" id="{4CEF7857-464F-3B7A-9327-7E3B813EECF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3843793409"/>
      </p:ext>
    </p:extLst>
  </p:cSld>
  <p:clrMapOvr>
    <a:masterClrMapping/>
  </p:clrMapOvr>
</p:sld>
</file>

<file path=ppt/theme/theme1.xml><?xml version="1.0" encoding="utf-8"?>
<a:theme xmlns:a="http://schemas.openxmlformats.org/drawingml/2006/main" name="JapandiLinearHarmony">
  <a:themeElements>
    <a:clrScheme name="Japandi Linear Harmony">
      <a:dk1>
        <a:srgbClr val="000000"/>
      </a:dk1>
      <a:lt1>
        <a:srgbClr val="FFFFFF"/>
      </a:lt1>
      <a:dk2>
        <a:srgbClr val="2C3932"/>
      </a:dk2>
      <a:lt2>
        <a:srgbClr val="FEFDFB"/>
      </a:lt2>
      <a:accent1>
        <a:srgbClr val="ECE7DA"/>
      </a:accent1>
      <a:accent2>
        <a:srgbClr val="8A835B"/>
      </a:accent2>
      <a:accent3>
        <a:srgbClr val="D7D9CF"/>
      </a:accent3>
      <a:accent4>
        <a:srgbClr val="A39382"/>
      </a:accent4>
      <a:accent5>
        <a:srgbClr val="87A3BF"/>
      </a:accent5>
      <a:accent6>
        <a:srgbClr val="343826"/>
      </a:accent6>
      <a:hlink>
        <a:srgbClr val="169C9A"/>
      </a:hlink>
      <a:folHlink>
        <a:srgbClr val="E15C3D"/>
      </a:folHlink>
    </a:clrScheme>
    <a:fontScheme name="Custom 24">
      <a:majorFont>
        <a:latin typeface="Nunito Sans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pandi linear_Marketing Presentation_win32_SD_V9" id="{57601A81-7059-40B9-B27D-CFA4D443B3D6}" vid="{9FBC8E92-EE9C-44F9-AA8A-E22EDCB5B7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D014992150F4489D6AD5CCE03E0B46" ma:contentTypeVersion="5" ma:contentTypeDescription="Create a new document." ma:contentTypeScope="" ma:versionID="3ed4af385315c3fc37f1c9af7a27c24d">
  <xsd:schema xmlns:xsd="http://www.w3.org/2001/XMLSchema" xmlns:xs="http://www.w3.org/2001/XMLSchema" xmlns:p="http://schemas.microsoft.com/office/2006/metadata/properties" xmlns:ns3="1213f9c7-2afd-4c70-930f-dd085bfce5ff" targetNamespace="http://schemas.microsoft.com/office/2006/metadata/properties" ma:root="true" ma:fieldsID="895015b44201f3a4d5328ad120e7e9b3" ns3:_="">
    <xsd:import namespace="1213f9c7-2afd-4c70-930f-dd085bfce5f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13f9c7-2afd-4c70-930f-dd085bfce5f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213f9c7-2afd-4c70-930f-dd085bfce5f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7D5EB7-48D2-48D0-861D-D3A8D0D978DA}">
  <ds:schemaRefs>
    <ds:schemaRef ds:uri="1213f9c7-2afd-4c70-930f-dd085bfce5f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1CEDABF-7176-4A42-8EF9-E5D4DD31FF6C}">
  <ds:schemaRefs>
    <ds:schemaRef ds:uri="1213f9c7-2afd-4c70-930f-dd085bfce5f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{CAA1D430-62F4-47B7-BD18-AD90E3B662F1}9a8ca73c-9ec2-4fbe-abc4-e368f4cb1a3b-TF575ccade-082f-4251-9f61-e4053e242b00_win32</Template>
  <Application>Microsoft Office PowerPoint</Application>
  <PresentationFormat>Widescreen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JapandiLinearHarmony</vt:lpstr>
      <vt:lpstr>Depression Indicator Prediction</vt:lpstr>
      <vt:lpstr>Background</vt:lpstr>
      <vt:lpstr>OUR GOAL</vt:lpstr>
      <vt:lpstr>Why it matters</vt:lpstr>
      <vt:lpstr>THE dATASET</vt:lpstr>
      <vt:lpstr>Dataset and prediction</vt:lpstr>
      <vt:lpstr>Quote</vt:lpstr>
      <vt:lpstr>PowerPoint Presentation</vt:lpstr>
      <vt:lpstr>Early patterns</vt:lpstr>
      <vt:lpstr>Implementation and tools</vt:lpstr>
      <vt:lpstr>Quote</vt:lpstr>
      <vt:lpstr>Results</vt:lpstr>
      <vt:lpstr>Live demo</vt:lpstr>
      <vt:lpstr>Conclusion</vt:lpstr>
      <vt:lpstr>Thank you</vt:lpstr>
    </vt:vector>
  </TitlesOfParts>
  <Company>Sonova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Tapia, Annabel</dc:creator>
  <cp:revision>16</cp:revision>
  <dcterms:created xsi:type="dcterms:W3CDTF">2026-07-29T20:11:56Z</dcterms:created>
  <dcterms:modified xsi:type="dcterms:W3CDTF">2026-08-19T15:35:33Z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0x01010045D014992150F4489D6AD5CCE03E0B46</vt:lpwstr>
  </property>
  <property fmtid="{D5CDD505-2E9C-101B-9397-08002B2CF9AE}" pid="3" name="MediaServiceImageTags">
    <vt:lpwstr/>
  </property>
</Properties>
</file>